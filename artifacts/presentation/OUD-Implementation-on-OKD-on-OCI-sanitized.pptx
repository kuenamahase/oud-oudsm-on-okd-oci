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sldIdLst>
    <p:sldId id="256" r:id="rId2"/>
    <p:sldId id="262" r:id="rId3"/>
    <p:sldId id="265" r:id="rId4"/>
    <p:sldId id="270" r:id="rId5"/>
    <p:sldId id="266" r:id="rId6"/>
    <p:sldId id="267" r:id="rId7"/>
    <p:sldId id="259" r:id="rId8"/>
    <p:sldId id="257" r:id="rId9"/>
    <p:sldId id="269" r:id="rId10"/>
    <p:sldId id="258" r:id="rId11"/>
    <p:sldId id="260" r:id="rId12"/>
    <p:sldId id="261" r:id="rId13"/>
    <p:sldId id="263" r:id="rId14"/>
    <p:sldId id="271" r:id="rId15"/>
    <p:sldId id="272" r:id="rId16"/>
    <p:sldId id="264"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13EDEC-5BFE-4BC1-961D-E1C792EFBD59}" v="576" dt="2025-07-01T14:18:16.3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612648" y="557783"/>
            <a:ext cx="10969752" cy="3130807"/>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612648" y="3902206"/>
            <a:ext cx="10969752" cy="2240529"/>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79C5A860-F335-4252-AA00-24FB67ED2982}" type="datetime1">
              <a:rPr lang="en-US" smtClean="0"/>
              <a:t>7/28/2026</a:t>
            </a:fld>
            <a:endParaRPr lang="en-US"/>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820683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D04BC802-30E3-4658-9CCA-F873646FEC67}" type="datetime1">
              <a:rPr lang="en-US" smtClean="0"/>
              <a:t>7/28/2026</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636814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612648" y="557784"/>
            <a:ext cx="10969752" cy="3146400"/>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612648" y="3902207"/>
            <a:ext cx="10969752" cy="2187443"/>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AB227A3-19CE-4153-81CE-64EB7AB094B3}" type="datetime1">
              <a:rPr lang="en-US" smtClean="0"/>
              <a:t>7/28/2026</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864377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609600" y="2081369"/>
            <a:ext cx="5410200" cy="4095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2" y="2081369"/>
            <a:ext cx="5410200" cy="4095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B819A100-10F6-477E-8847-29D479EF1C92}" type="datetime1">
              <a:rPr lang="en-US" smtClean="0"/>
              <a:t>7/28/2026</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572496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609600" y="365125"/>
            <a:ext cx="1074578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609600" y="1895096"/>
            <a:ext cx="5387975"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609600" y="2842211"/>
            <a:ext cx="5387975" cy="3347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67890" y="1895096"/>
            <a:ext cx="5414510"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67890" y="2842211"/>
            <a:ext cx="5414510" cy="3347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5DF128AB-198A-495F-8475-FDB360C9873F}" type="datetime1">
              <a:rPr lang="en-US" smtClean="0"/>
              <a:t>7/28/2026</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7573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21A235E-F8FD-479F-9FC7-18BE84110877}" type="datetime1">
              <a:rPr lang="en-US" smtClean="0"/>
              <a:t>7/28/2026</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104407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E890F09B-68DA-462E-9DB4-4C9ADAB8CBCC}" type="datetime1">
              <a:rPr lang="en-US" smtClean="0"/>
              <a:t>7/28/2026</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392465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612649" y="457199"/>
            <a:ext cx="4970822" cy="2660205"/>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6096000" y="457200"/>
            <a:ext cx="5483352" cy="5744003"/>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612649" y="3329989"/>
            <a:ext cx="4970822" cy="287121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17AC4E36-FABE-47EB-AA7F-C19A93824617}" type="datetime1">
              <a:rPr lang="en-US" smtClean="0"/>
              <a:t>7/28/2026</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7887848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612649" y="457199"/>
            <a:ext cx="4970822" cy="2667485"/>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6096000" y="457199"/>
            <a:ext cx="5483352" cy="54038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612649" y="3322708"/>
            <a:ext cx="4970822" cy="254628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F199CE6B-5DE6-4A2D-B72E-5E8969F9F56F}" type="datetime1">
              <a:rPr lang="en-US" smtClean="0"/>
              <a:t>7/28/2026</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9722721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46AB1048-0047-48CA-88BA-D69B470942CF}" type="datetime1">
              <a:rPr lang="en-US" smtClean="0"/>
              <a:t>7/28/2026</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97297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557784"/>
            <a:ext cx="2854452" cy="5643420"/>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612648" y="557784"/>
            <a:ext cx="7734300" cy="56434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5BD83879-648C-49A9-81A2-0EF5946532D0}" type="datetime1">
              <a:rPr lang="en-US" smtClean="0"/>
              <a:t>7/28/2026</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09777967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42E603F-28B7-4831-BF23-65FBAB13D5FB}"/>
              </a:ext>
            </a:extLst>
          </p:cNvPr>
          <p:cNvSpPr/>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4D39700F-2B10-4402-A7DD-06EE2245880D}"/>
              </a:ext>
              <a:ext uri="{C183D7F6-B498-43B3-948B-1728B52AA6E4}">
                <adec:decorative xmlns:adec="http://schemas.microsoft.com/office/drawing/2017/decorative" val="1"/>
              </a:ext>
            </a:extLst>
          </p:cNvPr>
          <p:cNvSpPr/>
          <p:nvPr/>
        </p:nvSpPr>
        <p:spPr>
          <a:xfrm>
            <a:off x="-1" y="232968"/>
            <a:ext cx="9560477" cy="6625032"/>
          </a:xfrm>
          <a:custGeom>
            <a:avLst/>
            <a:gdLst>
              <a:gd name="connsiteX0" fmla="*/ 8831314 w 9263816"/>
              <a:gd name="connsiteY0" fmla="*/ 5943878 h 6858000"/>
              <a:gd name="connsiteX1" fmla="*/ 9179783 w 9263816"/>
              <a:gd name="connsiteY1" fmla="*/ 6086141 h 6858000"/>
              <a:gd name="connsiteX2" fmla="*/ 9260887 w 9263816"/>
              <a:gd name="connsiteY2" fmla="*/ 6279156 h 6858000"/>
              <a:gd name="connsiteX3" fmla="*/ 8925621 w 9263816"/>
              <a:gd name="connsiteY3" fmla="*/ 6708712 h 6858000"/>
              <a:gd name="connsiteX4" fmla="*/ 8496050 w 9263816"/>
              <a:gd name="connsiteY4" fmla="*/ 6373449 h 6858000"/>
              <a:gd name="connsiteX5" fmla="*/ 8831314 w 9263816"/>
              <a:gd name="connsiteY5" fmla="*/ 5943878 h 6858000"/>
              <a:gd name="connsiteX6" fmla="*/ 7397485 w 9263816"/>
              <a:gd name="connsiteY6" fmla="*/ 5931706 h 6858000"/>
              <a:gd name="connsiteX7" fmla="*/ 7917779 w 9263816"/>
              <a:gd name="connsiteY7" fmla="*/ 6191864 h 6858000"/>
              <a:gd name="connsiteX8" fmla="*/ 8013467 w 9263816"/>
              <a:gd name="connsiteY8" fmla="*/ 6375784 h 6858000"/>
              <a:gd name="connsiteX9" fmla="*/ 8021879 w 9263816"/>
              <a:gd name="connsiteY9" fmla="*/ 6753751 h 6858000"/>
              <a:gd name="connsiteX10" fmla="*/ 7981316 w 9263816"/>
              <a:gd name="connsiteY10" fmla="*/ 6858000 h 6858000"/>
              <a:gd name="connsiteX11" fmla="*/ 6819486 w 9263816"/>
              <a:gd name="connsiteY11" fmla="*/ 6858000 h 6858000"/>
              <a:gd name="connsiteX12" fmla="*/ 6785199 w 9263816"/>
              <a:gd name="connsiteY12" fmla="*/ 6781101 h 6858000"/>
              <a:gd name="connsiteX13" fmla="*/ 7196747 w 9263816"/>
              <a:gd name="connsiteY13" fmla="*/ 5964309 h 6858000"/>
              <a:gd name="connsiteX14" fmla="*/ 7397485 w 9263816"/>
              <a:gd name="connsiteY14" fmla="*/ 5931706 h 6858000"/>
              <a:gd name="connsiteX15" fmla="*/ 1505570 w 9263816"/>
              <a:gd name="connsiteY15" fmla="*/ 227178 h 6858000"/>
              <a:gd name="connsiteX16" fmla="*/ 2026489 w 9263816"/>
              <a:gd name="connsiteY16" fmla="*/ 392370 h 6858000"/>
              <a:gd name="connsiteX17" fmla="*/ 2444553 w 9263816"/>
              <a:gd name="connsiteY17" fmla="*/ 1654853 h 6858000"/>
              <a:gd name="connsiteX18" fmla="*/ 3183153 w 9263816"/>
              <a:gd name="connsiteY18" fmla="*/ 2116208 h 6858000"/>
              <a:gd name="connsiteX19" fmla="*/ 4288384 w 9263816"/>
              <a:gd name="connsiteY19" fmla="*/ 1291908 h 6858000"/>
              <a:gd name="connsiteX20" fmla="*/ 5472602 w 9263816"/>
              <a:gd name="connsiteY20" fmla="*/ 1697818 h 6858000"/>
              <a:gd name="connsiteX21" fmla="*/ 5844697 w 9263816"/>
              <a:gd name="connsiteY21" fmla="*/ 3444791 h 6858000"/>
              <a:gd name="connsiteX22" fmla="*/ 6715674 w 9263816"/>
              <a:gd name="connsiteY22" fmla="*/ 4065208 h 6858000"/>
              <a:gd name="connsiteX23" fmla="*/ 8130429 w 9263816"/>
              <a:gd name="connsiteY23" fmla="*/ 4101787 h 6858000"/>
              <a:gd name="connsiteX24" fmla="*/ 8624630 w 9263816"/>
              <a:gd name="connsiteY24" fmla="*/ 4686202 h 6858000"/>
              <a:gd name="connsiteX25" fmla="*/ 8623843 w 9263816"/>
              <a:gd name="connsiteY25" fmla="*/ 4685749 h 6858000"/>
              <a:gd name="connsiteX26" fmla="*/ 8646859 w 9263816"/>
              <a:gd name="connsiteY26" fmla="*/ 4835156 h 6858000"/>
              <a:gd name="connsiteX27" fmla="*/ 8079403 w 9263816"/>
              <a:gd name="connsiteY27" fmla="*/ 5661624 h 6858000"/>
              <a:gd name="connsiteX28" fmla="*/ 6833105 w 9263816"/>
              <a:gd name="connsiteY28" fmla="*/ 5397208 h 6858000"/>
              <a:gd name="connsiteX29" fmla="*/ 5900832 w 9263816"/>
              <a:gd name="connsiteY29" fmla="*/ 5944462 h 6858000"/>
              <a:gd name="connsiteX30" fmla="*/ 6067212 w 9263816"/>
              <a:gd name="connsiteY30" fmla="*/ 6811916 h 6858000"/>
              <a:gd name="connsiteX31" fmla="*/ 6089565 w 9263816"/>
              <a:gd name="connsiteY31" fmla="*/ 6858000 h 6858000"/>
              <a:gd name="connsiteX32" fmla="*/ 0 w 9263816"/>
              <a:gd name="connsiteY32" fmla="*/ 6858000 h 6858000"/>
              <a:gd name="connsiteX33" fmla="*/ 0 w 9263816"/>
              <a:gd name="connsiteY33" fmla="*/ 2181377 h 6858000"/>
              <a:gd name="connsiteX34" fmla="*/ 73069 w 9263816"/>
              <a:gd name="connsiteY34" fmla="*/ 2215839 h 6858000"/>
              <a:gd name="connsiteX35" fmla="*/ 335445 w 9263816"/>
              <a:gd name="connsiteY35" fmla="*/ 2237140 h 6858000"/>
              <a:gd name="connsiteX36" fmla="*/ 752878 w 9263816"/>
              <a:gd name="connsiteY36" fmla="*/ 1445285 h 6858000"/>
              <a:gd name="connsiteX37" fmla="*/ 1202551 w 9263816"/>
              <a:gd name="connsiteY37" fmla="*/ 314229 h 6858000"/>
              <a:gd name="connsiteX38" fmla="*/ 1505570 w 9263816"/>
              <a:gd name="connsiteY38" fmla="*/ 227178 h 6858000"/>
              <a:gd name="connsiteX39" fmla="*/ 3142509 w 9263816"/>
              <a:gd name="connsiteY39" fmla="*/ 68854 h 6858000"/>
              <a:gd name="connsiteX40" fmla="*/ 3490978 w 9263816"/>
              <a:gd name="connsiteY40" fmla="*/ 211117 h 6858000"/>
              <a:gd name="connsiteX41" fmla="*/ 3572083 w 9263816"/>
              <a:gd name="connsiteY41" fmla="*/ 404131 h 6858000"/>
              <a:gd name="connsiteX42" fmla="*/ 3236814 w 9263816"/>
              <a:gd name="connsiteY42" fmla="*/ 833688 h 6858000"/>
              <a:gd name="connsiteX43" fmla="*/ 2807245 w 9263816"/>
              <a:gd name="connsiteY43" fmla="*/ 498425 h 6858000"/>
              <a:gd name="connsiteX44" fmla="*/ 3142509 w 9263816"/>
              <a:gd name="connsiteY44" fmla="*/ 68854 h 6858000"/>
              <a:gd name="connsiteX45" fmla="*/ 0 w 9263816"/>
              <a:gd name="connsiteY45" fmla="*/ 0 h 6858000"/>
              <a:gd name="connsiteX46" fmla="*/ 39858 w 9263816"/>
              <a:gd name="connsiteY46" fmla="*/ 0 h 6858000"/>
              <a:gd name="connsiteX47" fmla="*/ 65022 w 9263816"/>
              <a:gd name="connsiteY47" fmla="*/ 5834 h 6858000"/>
              <a:gd name="connsiteX48" fmla="*/ 389258 w 9263816"/>
              <a:gd name="connsiteY48" fmla="*/ 235630 h 6858000"/>
              <a:gd name="connsiteX49" fmla="*/ 485484 w 9263816"/>
              <a:gd name="connsiteY49" fmla="*/ 420070 h 6858000"/>
              <a:gd name="connsiteX50" fmla="*/ 74229 w 9263816"/>
              <a:gd name="connsiteY50" fmla="*/ 1237955 h 6858000"/>
              <a:gd name="connsiteX51" fmla="*/ 0 w 9263816"/>
              <a:gd name="connsiteY51" fmla="*/ 12544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263816" h="6858000">
                <a:moveTo>
                  <a:pt x="8831314" y="5943878"/>
                </a:moveTo>
                <a:cubicBezTo>
                  <a:pt x="8964281" y="5927490"/>
                  <a:pt x="9096260" y="5981362"/>
                  <a:pt x="9179783" y="6086141"/>
                </a:cubicBezTo>
                <a:cubicBezTo>
                  <a:pt x="9224074" y="6141769"/>
                  <a:pt x="9252211" y="6208560"/>
                  <a:pt x="9260887" y="6279156"/>
                </a:cubicBezTo>
                <a:cubicBezTo>
                  <a:pt x="9286897" y="6490362"/>
                  <a:pt x="9136845" y="6682672"/>
                  <a:pt x="8925621" y="6708712"/>
                </a:cubicBezTo>
                <a:cubicBezTo>
                  <a:pt x="8714398" y="6734766"/>
                  <a:pt x="8522062" y="6584655"/>
                  <a:pt x="8496050" y="6373449"/>
                </a:cubicBezTo>
                <a:cubicBezTo>
                  <a:pt x="8470038" y="6162229"/>
                  <a:pt x="8620090" y="5969920"/>
                  <a:pt x="8831314" y="5943878"/>
                </a:cubicBezTo>
                <a:close/>
                <a:moveTo>
                  <a:pt x="7397485" y="5931706"/>
                </a:moveTo>
                <a:cubicBezTo>
                  <a:pt x="7598431" y="5931157"/>
                  <a:pt x="7792965" y="6024548"/>
                  <a:pt x="7917779" y="6191864"/>
                </a:cubicBezTo>
                <a:cubicBezTo>
                  <a:pt x="7959204" y="6247714"/>
                  <a:pt x="7991530" y="6309792"/>
                  <a:pt x="8013467" y="6375784"/>
                </a:cubicBezTo>
                <a:cubicBezTo>
                  <a:pt x="8055425" y="6502973"/>
                  <a:pt x="8055748" y="6633888"/>
                  <a:pt x="8021879" y="6753751"/>
                </a:cubicBezTo>
                <a:lnTo>
                  <a:pt x="7981316" y="6858000"/>
                </a:lnTo>
                <a:lnTo>
                  <a:pt x="6819486" y="6858000"/>
                </a:lnTo>
                <a:lnTo>
                  <a:pt x="6785199" y="6781101"/>
                </a:lnTo>
                <a:cubicBezTo>
                  <a:pt x="6673307" y="6441922"/>
                  <a:pt x="6857485" y="6076251"/>
                  <a:pt x="7196747" y="5964309"/>
                </a:cubicBezTo>
                <a:cubicBezTo>
                  <a:pt x="7262809" y="5942509"/>
                  <a:pt x="7330503" y="5931889"/>
                  <a:pt x="7397485" y="5931706"/>
                </a:cubicBezTo>
                <a:close/>
                <a:moveTo>
                  <a:pt x="1505570" y="227178"/>
                </a:moveTo>
                <a:cubicBezTo>
                  <a:pt x="1691018" y="218628"/>
                  <a:pt x="1889853" y="275403"/>
                  <a:pt x="2026489" y="392370"/>
                </a:cubicBezTo>
                <a:cubicBezTo>
                  <a:pt x="2369898" y="685965"/>
                  <a:pt x="2078266" y="1147857"/>
                  <a:pt x="2444553" y="1654853"/>
                </a:cubicBezTo>
                <a:cubicBezTo>
                  <a:pt x="2492906" y="1721679"/>
                  <a:pt x="2800482" y="2144546"/>
                  <a:pt x="3183153" y="2116208"/>
                </a:cubicBezTo>
                <a:cubicBezTo>
                  <a:pt x="3673561" y="2080541"/>
                  <a:pt x="3723222" y="1441614"/>
                  <a:pt x="4288384" y="1291908"/>
                </a:cubicBezTo>
                <a:cubicBezTo>
                  <a:pt x="4689065" y="1185875"/>
                  <a:pt x="5207943" y="1366633"/>
                  <a:pt x="5472602" y="1697818"/>
                </a:cubicBezTo>
                <a:cubicBezTo>
                  <a:pt x="5891294" y="2221754"/>
                  <a:pt x="5408012" y="2790179"/>
                  <a:pt x="5844697" y="3444791"/>
                </a:cubicBezTo>
                <a:cubicBezTo>
                  <a:pt x="6149900" y="3902467"/>
                  <a:pt x="6672672" y="4053594"/>
                  <a:pt x="6715674" y="4065208"/>
                </a:cubicBezTo>
                <a:cubicBezTo>
                  <a:pt x="7326423" y="4232519"/>
                  <a:pt x="7677158" y="3817020"/>
                  <a:pt x="8130429" y="4101787"/>
                </a:cubicBezTo>
                <a:cubicBezTo>
                  <a:pt x="8226340" y="4161985"/>
                  <a:pt x="8536372" y="4356819"/>
                  <a:pt x="8624630" y="4686202"/>
                </a:cubicBezTo>
                <a:lnTo>
                  <a:pt x="8623843" y="4685749"/>
                </a:lnTo>
                <a:cubicBezTo>
                  <a:pt x="8636924" y="4734567"/>
                  <a:pt x="8644635" y="4784678"/>
                  <a:pt x="8646859" y="4835156"/>
                </a:cubicBezTo>
                <a:cubicBezTo>
                  <a:pt x="8662596" y="5196604"/>
                  <a:pt x="8398383" y="5562326"/>
                  <a:pt x="8079403" y="5661624"/>
                </a:cubicBezTo>
                <a:cubicBezTo>
                  <a:pt x="7649807" y="5795217"/>
                  <a:pt x="7430996" y="5350293"/>
                  <a:pt x="6833105" y="5397208"/>
                </a:cubicBezTo>
                <a:cubicBezTo>
                  <a:pt x="6519033" y="5421527"/>
                  <a:pt x="6056658" y="5595550"/>
                  <a:pt x="5900832" y="5944462"/>
                </a:cubicBezTo>
                <a:cubicBezTo>
                  <a:pt x="5770548" y="6236600"/>
                  <a:pt x="5916359" y="6515160"/>
                  <a:pt x="6067212" y="6811916"/>
                </a:cubicBezTo>
                <a:lnTo>
                  <a:pt x="6089565" y="6858000"/>
                </a:lnTo>
                <a:lnTo>
                  <a:pt x="0" y="6858000"/>
                </a:lnTo>
                <a:lnTo>
                  <a:pt x="0" y="2181377"/>
                </a:lnTo>
                <a:lnTo>
                  <a:pt x="73069" y="2215839"/>
                </a:lnTo>
                <a:cubicBezTo>
                  <a:pt x="165116" y="2251829"/>
                  <a:pt x="254486" y="2263171"/>
                  <a:pt x="335445" y="2237140"/>
                </a:cubicBezTo>
                <a:cubicBezTo>
                  <a:pt x="594718" y="2153707"/>
                  <a:pt x="688441" y="1733807"/>
                  <a:pt x="752878" y="1445285"/>
                </a:cubicBezTo>
                <a:cubicBezTo>
                  <a:pt x="925059" y="674068"/>
                  <a:pt x="975076" y="456292"/>
                  <a:pt x="1202551" y="314229"/>
                </a:cubicBezTo>
                <a:cubicBezTo>
                  <a:pt x="1287853" y="260956"/>
                  <a:pt x="1394302" y="232308"/>
                  <a:pt x="1505570" y="227178"/>
                </a:cubicBezTo>
                <a:close/>
                <a:moveTo>
                  <a:pt x="3142509" y="68854"/>
                </a:moveTo>
                <a:cubicBezTo>
                  <a:pt x="3275474" y="52467"/>
                  <a:pt x="3407455" y="106339"/>
                  <a:pt x="3490978" y="211117"/>
                </a:cubicBezTo>
                <a:cubicBezTo>
                  <a:pt x="3535271" y="266744"/>
                  <a:pt x="3563404" y="333535"/>
                  <a:pt x="3572083" y="404131"/>
                </a:cubicBezTo>
                <a:cubicBezTo>
                  <a:pt x="3598092" y="615337"/>
                  <a:pt x="3448040" y="807648"/>
                  <a:pt x="3236814" y="833688"/>
                </a:cubicBezTo>
                <a:cubicBezTo>
                  <a:pt x="3025594" y="859741"/>
                  <a:pt x="2833255" y="709631"/>
                  <a:pt x="2807245" y="498425"/>
                </a:cubicBezTo>
                <a:cubicBezTo>
                  <a:pt x="2781232" y="287207"/>
                  <a:pt x="2931283" y="94896"/>
                  <a:pt x="3142509" y="68854"/>
                </a:cubicBezTo>
                <a:close/>
                <a:moveTo>
                  <a:pt x="0" y="0"/>
                </a:moveTo>
                <a:lnTo>
                  <a:pt x="39858" y="0"/>
                </a:lnTo>
                <a:lnTo>
                  <a:pt x="65022" y="5834"/>
                </a:lnTo>
                <a:cubicBezTo>
                  <a:pt x="191545" y="45606"/>
                  <a:pt x="305874" y="124173"/>
                  <a:pt x="389258" y="235630"/>
                </a:cubicBezTo>
                <a:cubicBezTo>
                  <a:pt x="430983" y="291600"/>
                  <a:pt x="463360" y="353876"/>
                  <a:pt x="485484" y="420070"/>
                </a:cubicBezTo>
                <a:cubicBezTo>
                  <a:pt x="597711" y="759508"/>
                  <a:pt x="413661" y="1125662"/>
                  <a:pt x="74229" y="1237955"/>
                </a:cubicBezTo>
                <a:lnTo>
                  <a:pt x="0" y="1254477"/>
                </a:lnTo>
                <a:close/>
              </a:path>
            </a:pathLst>
          </a:cu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609600" y="557784"/>
            <a:ext cx="10972800"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609600" y="2106204"/>
            <a:ext cx="10972800" cy="403653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609600" y="6356350"/>
            <a:ext cx="2743200" cy="365125"/>
          </a:xfrm>
          <a:prstGeom prst="rect">
            <a:avLst/>
          </a:prstGeom>
        </p:spPr>
        <p:txBody>
          <a:bodyPr vert="horz" lIns="91440" tIns="45720" rIns="91440" bIns="45720" rtlCol="0" anchor="ctr"/>
          <a:lstStyle>
            <a:lvl1pPr algn="l">
              <a:defRPr lang="en-US" sz="800" kern="1200" cap="all" spc="200" smtClean="0">
                <a:solidFill>
                  <a:schemeClr val="tx1"/>
                </a:solidFill>
                <a:latin typeface="+mn-lt"/>
                <a:ea typeface="+mn-ea"/>
                <a:cs typeface="Segoe UI Semilight" panose="020B0402040204020203" pitchFamily="34" charset="0"/>
              </a:defRPr>
            </a:lvl1pPr>
          </a:lstStyle>
          <a:p>
            <a:fld id="{F481A142-DA77-4A5F-AD1F-14E6C18F0F5F}" type="datetime1">
              <a:rPr lang="en-US" smtClean="0"/>
              <a:t>7/28/2026</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800" kern="1200" cap="all" spc="200" dirty="0">
                <a:solidFill>
                  <a:schemeClr val="tx1"/>
                </a:solidFill>
                <a:latin typeface="+mn-lt"/>
                <a:ea typeface="+mn-ea"/>
                <a:cs typeface="Segoe UI Semilight" panose="020B0402040204020203" pitchFamily="34" charset="0"/>
              </a:defRPr>
            </a:lvl1pPr>
          </a:lstStyle>
          <a:p>
            <a:endParaRPr lang="en-US" dirty="0"/>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10134600" y="6356350"/>
            <a:ext cx="1447800" cy="365125"/>
          </a:xfrm>
          <a:prstGeom prst="rect">
            <a:avLst/>
          </a:prstGeom>
        </p:spPr>
        <p:txBody>
          <a:bodyPr vert="horz" lIns="91440" tIns="45720" rIns="91440" bIns="45720" rtlCol="0" anchor="ctr"/>
          <a:lstStyle>
            <a:lvl1pPr algn="r">
              <a:defRPr lang="en-US" sz="800" kern="1200" cap="all" spc="200" smtClean="0">
                <a:solidFill>
                  <a:schemeClr val="tx1"/>
                </a:solidFill>
                <a:latin typeface="+mn-lt"/>
                <a:ea typeface="+mn-ea"/>
                <a:cs typeface="Segoe UI Semilight" panose="020B0402040204020203" pitchFamily="34" charset="0"/>
              </a:defRPr>
            </a:lvl1pPr>
          </a:lstStyle>
          <a:p>
            <a:fld id="{1F646F3F-274D-499B-ABBE-824EB4ABDC3D}" type="slidenum">
              <a:rPr lang="en-US" smtClean="0"/>
              <a:pPr/>
              <a:t>‹#›</a:t>
            </a:fld>
            <a:endParaRPr lang="en-US"/>
          </a:p>
        </p:txBody>
      </p:sp>
    </p:spTree>
    <p:extLst>
      <p:ext uri="{BB962C8B-B14F-4D97-AF65-F5344CB8AC3E}">
        <p14:creationId xmlns:p14="http://schemas.microsoft.com/office/powerpoint/2010/main" val="3765933028"/>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56" r:id="rId6"/>
    <p:sldLayoutId id="2147483752" r:id="rId7"/>
    <p:sldLayoutId id="2147483753" r:id="rId8"/>
    <p:sldLayoutId id="2147483754" r:id="rId9"/>
    <p:sldLayoutId id="2147483755" r:id="rId10"/>
    <p:sldLayoutId id="2147483757" r:id="rId11"/>
  </p:sldLayoutIdLst>
  <p:hf sldNum="0" hdr="0" ftr="0" dt="0"/>
  <p:txStyles>
    <p:title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pi.oud-okd-oci-cluster.base.local:6443" TargetMode="External"/><Relationship Id="rId3" Type="http://schemas.openxmlformats.org/officeDocument/2006/relationships/hyperlink" Target="https://console-openshift-console.app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6" name="Background Fill">
            <a:extLst>
              <a:ext uri="{FF2B5EF4-FFF2-40B4-BE49-F238E27FC236}">
                <a16:creationId xmlns:a16="http://schemas.microsoft.com/office/drawing/2014/main" id="{6DA65B90-7B06-4499-91BA-CDDD361324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D26A892-10DB-4D8F-8589-C84BC53281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Shape 29">
            <a:extLst>
              <a:ext uri="{FF2B5EF4-FFF2-40B4-BE49-F238E27FC236}">
                <a16:creationId xmlns:a16="http://schemas.microsoft.com/office/drawing/2014/main" id="{3E91BD27-0A21-43ED-80E7-0A40F57C80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72946"/>
            <a:ext cx="6721522" cy="6785055"/>
          </a:xfrm>
          <a:custGeom>
            <a:avLst/>
            <a:gdLst>
              <a:gd name="connsiteX0" fmla="*/ 767991 w 6329420"/>
              <a:gd name="connsiteY0" fmla="*/ 731396 h 6389247"/>
              <a:gd name="connsiteX1" fmla="*/ 1299514 w 6329420"/>
              <a:gd name="connsiteY1" fmla="*/ 1262919 h 6389247"/>
              <a:gd name="connsiteX2" fmla="*/ 767991 w 6329420"/>
              <a:gd name="connsiteY2" fmla="*/ 1794442 h 6389247"/>
              <a:gd name="connsiteX3" fmla="*/ 236469 w 6329420"/>
              <a:gd name="connsiteY3" fmla="*/ 1262919 h 6389247"/>
              <a:gd name="connsiteX4" fmla="*/ 767991 w 6329420"/>
              <a:gd name="connsiteY4" fmla="*/ 731396 h 6389247"/>
              <a:gd name="connsiteX5" fmla="*/ 2926094 w 6329420"/>
              <a:gd name="connsiteY5" fmla="*/ 324026 h 6389247"/>
              <a:gd name="connsiteX6" fmla="*/ 3207855 w 6329420"/>
              <a:gd name="connsiteY6" fmla="*/ 605787 h 6389247"/>
              <a:gd name="connsiteX7" fmla="*/ 2926094 w 6329420"/>
              <a:gd name="connsiteY7" fmla="*/ 887548 h 6389247"/>
              <a:gd name="connsiteX8" fmla="*/ 2644333 w 6329420"/>
              <a:gd name="connsiteY8" fmla="*/ 605787 h 6389247"/>
              <a:gd name="connsiteX9" fmla="*/ 2926094 w 6329420"/>
              <a:gd name="connsiteY9" fmla="*/ 324026 h 6389247"/>
              <a:gd name="connsiteX10" fmla="*/ 5761439 w 6329420"/>
              <a:gd name="connsiteY10" fmla="*/ 17664 h 6389247"/>
              <a:gd name="connsiteX11" fmla="*/ 5784727 w 6329420"/>
              <a:gd name="connsiteY11" fmla="*/ 18309 h 6389247"/>
              <a:gd name="connsiteX12" fmla="*/ 6232947 w 6329420"/>
              <a:gd name="connsiteY12" fmla="*/ 102447 h 6389247"/>
              <a:gd name="connsiteX13" fmla="*/ 6329420 w 6329420"/>
              <a:gd name="connsiteY13" fmla="*/ 159335 h 6389247"/>
              <a:gd name="connsiteX14" fmla="*/ 6329420 w 6329420"/>
              <a:gd name="connsiteY14" fmla="*/ 6389247 h 6389247"/>
              <a:gd name="connsiteX15" fmla="*/ 3180387 w 6329420"/>
              <a:gd name="connsiteY15" fmla="*/ 6389247 h 6389247"/>
              <a:gd name="connsiteX16" fmla="*/ 2702967 w 6329420"/>
              <a:gd name="connsiteY16" fmla="*/ 6389247 h 6389247"/>
              <a:gd name="connsiteX17" fmla="*/ 1013739 w 6329420"/>
              <a:gd name="connsiteY17" fmla="*/ 6389247 h 6389247"/>
              <a:gd name="connsiteX18" fmla="*/ 1024183 w 6329420"/>
              <a:gd name="connsiteY18" fmla="*/ 6281366 h 6389247"/>
              <a:gd name="connsiteX19" fmla="*/ 903050 w 6329420"/>
              <a:gd name="connsiteY19" fmla="*/ 5588470 h 6389247"/>
              <a:gd name="connsiteX20" fmla="*/ 273230 w 6329420"/>
              <a:gd name="connsiteY20" fmla="*/ 5151559 h 6389247"/>
              <a:gd name="connsiteX21" fmla="*/ 40189 w 6329420"/>
              <a:gd name="connsiteY21" fmla="*/ 4431326 h 6389247"/>
              <a:gd name="connsiteX22" fmla="*/ 467268 w 6329420"/>
              <a:gd name="connsiteY22" fmla="*/ 3598198 h 6389247"/>
              <a:gd name="connsiteX23" fmla="*/ 3203 w 6329420"/>
              <a:gd name="connsiteY23" fmla="*/ 2797063 h 6389247"/>
              <a:gd name="connsiteX24" fmla="*/ 345913 w 6329420"/>
              <a:gd name="connsiteY24" fmla="*/ 2096653 h 6389247"/>
              <a:gd name="connsiteX25" fmla="*/ 1552774 w 6329420"/>
              <a:gd name="connsiteY25" fmla="*/ 2014542 h 6389247"/>
              <a:gd name="connsiteX26" fmla="*/ 1737708 w 6329420"/>
              <a:gd name="connsiteY26" fmla="*/ 1339596 h 6389247"/>
              <a:gd name="connsiteX27" fmla="*/ 1365343 w 6329420"/>
              <a:gd name="connsiteY27" fmla="*/ 604294 h 6389247"/>
              <a:gd name="connsiteX28" fmla="*/ 1784365 w 6329420"/>
              <a:gd name="connsiteY28" fmla="*/ 110735 h 6389247"/>
              <a:gd name="connsiteX29" fmla="*/ 1881062 w 6329420"/>
              <a:gd name="connsiteY29" fmla="*/ 100098 h 6389247"/>
              <a:gd name="connsiteX30" fmla="*/ 2326675 w 6329420"/>
              <a:gd name="connsiteY30" fmla="*/ 311301 h 6389247"/>
              <a:gd name="connsiteX31" fmla="*/ 2585018 w 6329420"/>
              <a:gd name="connsiteY31" fmla="*/ 1190279 h 6389247"/>
              <a:gd name="connsiteX32" fmla="*/ 2694528 w 6329420"/>
              <a:gd name="connsiteY32" fmla="*/ 1338063 h 6389247"/>
              <a:gd name="connsiteX33" fmla="*/ 2982926 w 6329420"/>
              <a:gd name="connsiteY33" fmla="*/ 1306959 h 6389247"/>
              <a:gd name="connsiteX34" fmla="*/ 3354163 w 6329420"/>
              <a:gd name="connsiteY34" fmla="*/ 881733 h 6389247"/>
              <a:gd name="connsiteX35" fmla="*/ 4299539 w 6329420"/>
              <a:gd name="connsiteY35" fmla="*/ 1304623 h 6389247"/>
              <a:gd name="connsiteX36" fmla="*/ 4625167 w 6329420"/>
              <a:gd name="connsiteY36" fmla="*/ 991486 h 6389247"/>
              <a:gd name="connsiteX37" fmla="*/ 4692533 w 6329420"/>
              <a:gd name="connsiteY37" fmla="*/ 854498 h 6389247"/>
              <a:gd name="connsiteX38" fmla="*/ 5607288 w 6329420"/>
              <a:gd name="connsiteY38" fmla="*/ 28863 h 6389247"/>
              <a:gd name="connsiteX39" fmla="*/ 5761439 w 6329420"/>
              <a:gd name="connsiteY39" fmla="*/ 17664 h 6389247"/>
              <a:gd name="connsiteX40" fmla="*/ 4156539 w 6329420"/>
              <a:gd name="connsiteY40" fmla="*/ 0 h 6389247"/>
              <a:gd name="connsiteX41" fmla="*/ 4663751 w 6329420"/>
              <a:gd name="connsiteY41" fmla="*/ 507212 h 6389247"/>
              <a:gd name="connsiteX42" fmla="*/ 4156539 w 6329420"/>
              <a:gd name="connsiteY42" fmla="*/ 1014424 h 6389247"/>
              <a:gd name="connsiteX43" fmla="*/ 3649327 w 6329420"/>
              <a:gd name="connsiteY43" fmla="*/ 507212 h 6389247"/>
              <a:gd name="connsiteX44" fmla="*/ 4156539 w 6329420"/>
              <a:gd name="connsiteY44" fmla="*/ 0 h 6389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329420" h="6389247">
                <a:moveTo>
                  <a:pt x="767991" y="731396"/>
                </a:moveTo>
                <a:cubicBezTo>
                  <a:pt x="1061543" y="731396"/>
                  <a:pt x="1299514" y="969367"/>
                  <a:pt x="1299514" y="1262919"/>
                </a:cubicBezTo>
                <a:cubicBezTo>
                  <a:pt x="1299514" y="1556471"/>
                  <a:pt x="1061543" y="1794442"/>
                  <a:pt x="767991" y="1794442"/>
                </a:cubicBezTo>
                <a:cubicBezTo>
                  <a:pt x="474439" y="1794442"/>
                  <a:pt x="236469" y="1556471"/>
                  <a:pt x="236469" y="1262919"/>
                </a:cubicBezTo>
                <a:cubicBezTo>
                  <a:pt x="236469" y="969367"/>
                  <a:pt x="474439" y="731396"/>
                  <a:pt x="767991" y="731396"/>
                </a:cubicBezTo>
                <a:close/>
                <a:moveTo>
                  <a:pt x="2926094" y="324026"/>
                </a:moveTo>
                <a:cubicBezTo>
                  <a:pt x="3081706" y="324026"/>
                  <a:pt x="3207855" y="450175"/>
                  <a:pt x="3207855" y="605787"/>
                </a:cubicBezTo>
                <a:cubicBezTo>
                  <a:pt x="3207855" y="761399"/>
                  <a:pt x="3081706" y="887548"/>
                  <a:pt x="2926094" y="887548"/>
                </a:cubicBezTo>
                <a:cubicBezTo>
                  <a:pt x="2770482" y="887548"/>
                  <a:pt x="2644333" y="761399"/>
                  <a:pt x="2644333" y="605787"/>
                </a:cubicBezTo>
                <a:cubicBezTo>
                  <a:pt x="2644333" y="450175"/>
                  <a:pt x="2770482" y="324026"/>
                  <a:pt x="2926094" y="324026"/>
                </a:cubicBezTo>
                <a:close/>
                <a:moveTo>
                  <a:pt x="5761439" y="17664"/>
                </a:moveTo>
                <a:lnTo>
                  <a:pt x="5784727" y="18309"/>
                </a:lnTo>
                <a:cubicBezTo>
                  <a:pt x="5972924" y="25037"/>
                  <a:pt x="6119949" y="54449"/>
                  <a:pt x="6232947" y="102447"/>
                </a:cubicBezTo>
                <a:lnTo>
                  <a:pt x="6329420" y="159335"/>
                </a:lnTo>
                <a:lnTo>
                  <a:pt x="6329420" y="6389247"/>
                </a:lnTo>
                <a:lnTo>
                  <a:pt x="3180387" y="6389247"/>
                </a:lnTo>
                <a:lnTo>
                  <a:pt x="2702967" y="6389247"/>
                </a:lnTo>
                <a:lnTo>
                  <a:pt x="1013739" y="6389247"/>
                </a:lnTo>
                <a:lnTo>
                  <a:pt x="1024183" y="6281366"/>
                </a:lnTo>
                <a:cubicBezTo>
                  <a:pt x="1049848" y="6046008"/>
                  <a:pt x="1072512" y="5801284"/>
                  <a:pt x="903050" y="5588470"/>
                </a:cubicBezTo>
                <a:cubicBezTo>
                  <a:pt x="704901" y="5339877"/>
                  <a:pt x="494907" y="5451483"/>
                  <a:pt x="273230" y="5151559"/>
                </a:cubicBezTo>
                <a:cubicBezTo>
                  <a:pt x="109328" y="4929882"/>
                  <a:pt x="-26532" y="4726254"/>
                  <a:pt x="40189" y="4431326"/>
                </a:cubicBezTo>
                <a:cubicBezTo>
                  <a:pt x="129472" y="4036881"/>
                  <a:pt x="470813" y="3882974"/>
                  <a:pt x="467268" y="3598198"/>
                </a:cubicBezTo>
                <a:cubicBezTo>
                  <a:pt x="463239" y="3255890"/>
                  <a:pt x="44217" y="3187318"/>
                  <a:pt x="3203" y="2797063"/>
                </a:cubicBezTo>
                <a:cubicBezTo>
                  <a:pt x="-23550" y="2542509"/>
                  <a:pt x="119641" y="2237671"/>
                  <a:pt x="345913" y="2096653"/>
                </a:cubicBezTo>
                <a:cubicBezTo>
                  <a:pt x="762919" y="1836457"/>
                  <a:pt x="1233029" y="2275545"/>
                  <a:pt x="1552774" y="2014542"/>
                </a:cubicBezTo>
                <a:cubicBezTo>
                  <a:pt x="1743751" y="1858617"/>
                  <a:pt x="1774856" y="1540160"/>
                  <a:pt x="1737708" y="1339596"/>
                </a:cubicBezTo>
                <a:cubicBezTo>
                  <a:pt x="1666877" y="957721"/>
                  <a:pt x="1353739" y="895190"/>
                  <a:pt x="1365343" y="604294"/>
                </a:cubicBezTo>
                <a:cubicBezTo>
                  <a:pt x="1373885" y="388094"/>
                  <a:pt x="1557287" y="161098"/>
                  <a:pt x="1784365" y="110735"/>
                </a:cubicBezTo>
                <a:cubicBezTo>
                  <a:pt x="1816113" y="103643"/>
                  <a:pt x="1848539" y="100098"/>
                  <a:pt x="1881062" y="100098"/>
                </a:cubicBezTo>
                <a:cubicBezTo>
                  <a:pt x="2100564" y="100098"/>
                  <a:pt x="2273329" y="261260"/>
                  <a:pt x="2326675" y="311301"/>
                </a:cubicBezTo>
                <a:cubicBezTo>
                  <a:pt x="2579216" y="547161"/>
                  <a:pt x="2379374" y="836206"/>
                  <a:pt x="2585018" y="1190279"/>
                </a:cubicBezTo>
                <a:cubicBezTo>
                  <a:pt x="2616968" y="1242737"/>
                  <a:pt x="2653624" y="1292213"/>
                  <a:pt x="2694528" y="1338063"/>
                </a:cubicBezTo>
                <a:cubicBezTo>
                  <a:pt x="2775108" y="1429685"/>
                  <a:pt x="2925230" y="1413569"/>
                  <a:pt x="2982926" y="1306959"/>
                </a:cubicBezTo>
                <a:cubicBezTo>
                  <a:pt x="3078253" y="1130728"/>
                  <a:pt x="3169390" y="933143"/>
                  <a:pt x="3354163" y="881733"/>
                </a:cubicBezTo>
                <a:cubicBezTo>
                  <a:pt x="3713394" y="781733"/>
                  <a:pt x="3927255" y="1375615"/>
                  <a:pt x="4299539" y="1304623"/>
                </a:cubicBezTo>
                <a:cubicBezTo>
                  <a:pt x="4454094" y="1275131"/>
                  <a:pt x="4543700" y="1148457"/>
                  <a:pt x="4625167" y="991486"/>
                </a:cubicBezTo>
                <a:cubicBezTo>
                  <a:pt x="4647810" y="947730"/>
                  <a:pt x="4669890" y="901637"/>
                  <a:pt x="4692533" y="854498"/>
                </a:cubicBezTo>
                <a:cubicBezTo>
                  <a:pt x="4762477" y="605422"/>
                  <a:pt x="4865621" y="105095"/>
                  <a:pt x="5607288" y="28863"/>
                </a:cubicBezTo>
                <a:cubicBezTo>
                  <a:pt x="5658191" y="20163"/>
                  <a:pt x="5709812" y="16455"/>
                  <a:pt x="5761439" y="17664"/>
                </a:cubicBezTo>
                <a:close/>
                <a:moveTo>
                  <a:pt x="4156539" y="0"/>
                </a:moveTo>
                <a:cubicBezTo>
                  <a:pt x="4436664" y="0"/>
                  <a:pt x="4663751" y="227087"/>
                  <a:pt x="4663751" y="507212"/>
                </a:cubicBezTo>
                <a:cubicBezTo>
                  <a:pt x="4663751" y="787337"/>
                  <a:pt x="4436664" y="1014424"/>
                  <a:pt x="4156539" y="1014424"/>
                </a:cubicBezTo>
                <a:cubicBezTo>
                  <a:pt x="3876414" y="1014424"/>
                  <a:pt x="3649327" y="787337"/>
                  <a:pt x="3649327" y="507212"/>
                </a:cubicBezTo>
                <a:cubicBezTo>
                  <a:pt x="3649327" y="227087"/>
                  <a:pt x="3876414" y="0"/>
                  <a:pt x="415653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p:nvPr>
        </p:nvSpPr>
        <p:spPr>
          <a:xfrm>
            <a:off x="612648" y="557783"/>
            <a:ext cx="10969752" cy="3130807"/>
          </a:xfrm>
        </p:spPr>
        <p:txBody>
          <a:bodyPr>
            <a:normAutofit/>
          </a:bodyPr>
          <a:lstStyle/>
          <a:p>
            <a:r>
              <a:rPr lang="en-US"/>
              <a:t>Deploying  OUD on OKD/OpenShift on Oracle Cloud Infrastructure </a:t>
            </a:r>
            <a:endParaRPr lang="en-US">
              <a:cs typeface="Posterama"/>
            </a:endParaRPr>
          </a:p>
        </p:txBody>
      </p:sp>
      <p:sp>
        <p:nvSpPr>
          <p:cNvPr id="3" name="Subtitle 2"/>
          <p:cNvSpPr>
            <a:spLocks noGrp="1"/>
          </p:cNvSpPr>
          <p:nvPr>
            <p:ph type="subTitle" idx="1"/>
          </p:nvPr>
        </p:nvSpPr>
        <p:spPr>
          <a:xfrm>
            <a:off x="612648" y="3902206"/>
            <a:ext cx="10969752" cy="2240529"/>
          </a:xfrm>
        </p:spPr>
        <p:txBody>
          <a:bodyPr vert="horz" lIns="91440" tIns="45720" rIns="91440" bIns="45720" rtlCol="0">
            <a:normAutofit/>
          </a:bodyPr>
          <a:lstStyle/>
          <a:p>
            <a:r>
              <a:rPr lang="en-US">
                <a:latin typeface="Posterama"/>
                <a:cs typeface="Posterama"/>
              </a:rPr>
              <a:t>by Kuena Mahase</a:t>
            </a: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8DF46-5802-A3CC-BBC0-3CC3E351C83C}"/>
              </a:ext>
            </a:extLst>
          </p:cNvPr>
          <p:cNvSpPr>
            <a:spLocks noGrp="1"/>
          </p:cNvSpPr>
          <p:nvPr>
            <p:ph type="title"/>
          </p:nvPr>
        </p:nvSpPr>
        <p:spPr/>
        <p:txBody>
          <a:bodyPr/>
          <a:lstStyle/>
          <a:p>
            <a:r>
              <a:rPr lang="en-US">
                <a:cs typeface="Posterama"/>
              </a:rPr>
              <a:t>Table of Contents</a:t>
            </a:r>
            <a:endParaRPr lang="en-US"/>
          </a:p>
        </p:txBody>
      </p:sp>
      <p:sp>
        <p:nvSpPr>
          <p:cNvPr id="3" name="Content Placeholder 2">
            <a:extLst>
              <a:ext uri="{FF2B5EF4-FFF2-40B4-BE49-F238E27FC236}">
                <a16:creationId xmlns:a16="http://schemas.microsoft.com/office/drawing/2014/main" id="{17CC70E5-0FCE-A4DA-62F8-067FBCA04C07}"/>
              </a:ext>
            </a:extLst>
          </p:cNvPr>
          <p:cNvSpPr>
            <a:spLocks noGrp="1"/>
          </p:cNvSpPr>
          <p:nvPr>
            <p:ph idx="1"/>
          </p:nvPr>
        </p:nvSpPr>
        <p:spPr/>
        <p:txBody>
          <a:bodyPr vert="horz" lIns="91440" tIns="45720" rIns="91440" bIns="45720" rtlCol="0" anchor="t">
            <a:normAutofit fontScale="92500" lnSpcReduction="20000"/>
          </a:bodyPr>
          <a:lstStyle/>
          <a:p>
            <a:pPr marL="285750" indent="-285750">
              <a:buFont typeface="Arial"/>
              <a:buChar char="•"/>
            </a:pPr>
            <a:r>
              <a:rPr lang="en-US">
                <a:ea typeface="+mn-lt"/>
                <a:cs typeface="+mn-lt"/>
              </a:rPr>
              <a:t>Introduction</a:t>
            </a:r>
          </a:p>
          <a:p>
            <a:pPr marL="285750" indent="-285750">
              <a:buFont typeface="Arial"/>
              <a:buChar char="•"/>
            </a:pPr>
            <a:r>
              <a:rPr lang="en-US">
                <a:ea typeface="+mn-lt"/>
                <a:cs typeface="+mn-lt"/>
              </a:rPr>
              <a:t>What is Oracle Unified Directory (OUD)?</a:t>
            </a:r>
          </a:p>
          <a:p>
            <a:pPr marL="285750" indent="-285750">
              <a:buFont typeface="Arial"/>
              <a:buChar char="•"/>
            </a:pPr>
            <a:r>
              <a:rPr lang="en-US">
                <a:ea typeface="+mn-lt"/>
                <a:cs typeface="+mn-lt"/>
              </a:rPr>
              <a:t>What is Oracle Unified Directory Services Manager (OUDSM)?</a:t>
            </a:r>
          </a:p>
          <a:p>
            <a:pPr marL="285750" indent="-285750">
              <a:buFont typeface="Arial"/>
              <a:buChar char="•"/>
            </a:pPr>
            <a:r>
              <a:rPr lang="en-US">
                <a:ea typeface="+mn-lt"/>
                <a:cs typeface="+mn-lt"/>
              </a:rPr>
              <a:t>What is OKD?</a:t>
            </a:r>
          </a:p>
          <a:p>
            <a:pPr marL="285750" indent="-285750">
              <a:buFont typeface="Arial"/>
              <a:buChar char="•"/>
            </a:pPr>
            <a:r>
              <a:rPr lang="en-US">
                <a:ea typeface="+mn-lt"/>
                <a:cs typeface="+mn-lt"/>
              </a:rPr>
              <a:t>Objectives: What Are We Trying to Achieve?</a:t>
            </a:r>
          </a:p>
          <a:p>
            <a:pPr marL="285750" indent="-285750">
              <a:buFont typeface="Arial"/>
              <a:buChar char="•"/>
            </a:pPr>
            <a:r>
              <a:rPr lang="en-US">
                <a:ea typeface="+mn-lt"/>
                <a:cs typeface="+mn-lt"/>
              </a:rPr>
              <a:t>Key Features of OpenShift on OCI</a:t>
            </a:r>
          </a:p>
          <a:p>
            <a:pPr marL="285750" indent="-285750">
              <a:buFont typeface="Arial"/>
              <a:buChar char="•"/>
            </a:pPr>
            <a:r>
              <a:rPr lang="en-US">
                <a:ea typeface="+mn-lt"/>
                <a:cs typeface="+mn-lt"/>
              </a:rPr>
              <a:t>OpenShift Cluster Architecture in OCI</a:t>
            </a:r>
          </a:p>
          <a:p>
            <a:pPr marL="285750" indent="-285750">
              <a:buFont typeface="Arial"/>
              <a:buChar char="•"/>
            </a:pPr>
            <a:r>
              <a:rPr lang="en-US">
                <a:ea typeface="+mn-lt"/>
                <a:cs typeface="+mn-lt"/>
              </a:rPr>
              <a:t>Benefits of Running OpenShift on OCI</a:t>
            </a:r>
          </a:p>
          <a:p>
            <a:pPr marL="285750" indent="-285750">
              <a:buFont typeface="Arial"/>
              <a:buChar char="•"/>
            </a:pPr>
            <a:r>
              <a:rPr lang="en-US">
                <a:ea typeface="+mn-lt"/>
                <a:cs typeface="+mn-lt"/>
              </a:rPr>
              <a:t>Summary</a:t>
            </a:r>
          </a:p>
          <a:p>
            <a:pPr marL="285750" indent="-285750">
              <a:buFont typeface="Arial"/>
              <a:buChar char="•"/>
            </a:pPr>
            <a:r>
              <a:rPr lang="en-US">
                <a:ea typeface="+mn-lt"/>
                <a:cs typeface="+mn-lt"/>
              </a:rPr>
              <a:t>Q&amp;A / Thank You</a:t>
            </a:r>
          </a:p>
          <a:p>
            <a:endParaRPr lang="en-US" dirty="0"/>
          </a:p>
        </p:txBody>
      </p:sp>
    </p:spTree>
    <p:extLst>
      <p:ext uri="{BB962C8B-B14F-4D97-AF65-F5344CB8AC3E}">
        <p14:creationId xmlns:p14="http://schemas.microsoft.com/office/powerpoint/2010/main" val="3352832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2BF20-08E9-9ECB-8491-EA0F59E9EFF8}"/>
              </a:ext>
            </a:extLst>
          </p:cNvPr>
          <p:cNvSpPr>
            <a:spLocks noGrp="1"/>
          </p:cNvSpPr>
          <p:nvPr>
            <p:ph type="title"/>
          </p:nvPr>
        </p:nvSpPr>
        <p:spPr/>
        <p:txBody>
          <a:bodyPr/>
          <a:lstStyle/>
          <a:p>
            <a:r>
              <a:rPr lang="en-US">
                <a:cs typeface="Posterama"/>
              </a:rPr>
              <a:t>What is OUD ?</a:t>
            </a:r>
            <a:endParaRPr lang="en-US"/>
          </a:p>
        </p:txBody>
      </p:sp>
      <p:sp>
        <p:nvSpPr>
          <p:cNvPr id="3" name="Content Placeholder 2">
            <a:extLst>
              <a:ext uri="{FF2B5EF4-FFF2-40B4-BE49-F238E27FC236}">
                <a16:creationId xmlns:a16="http://schemas.microsoft.com/office/drawing/2014/main" id="{23AF4322-DBA7-9863-60F4-FB9EEF2B37F4}"/>
              </a:ext>
            </a:extLst>
          </p:cNvPr>
          <p:cNvSpPr>
            <a:spLocks noGrp="1"/>
          </p:cNvSpPr>
          <p:nvPr>
            <p:ph idx="1"/>
          </p:nvPr>
        </p:nvSpPr>
        <p:spPr/>
        <p:txBody>
          <a:bodyPr vert="horz" lIns="91440" tIns="45720" rIns="91440" bIns="45720" rtlCol="0" anchor="t">
            <a:normAutofit/>
          </a:bodyPr>
          <a:lstStyle/>
          <a:p>
            <a:pPr marL="285750" indent="-285750">
              <a:buFont typeface="Arial"/>
              <a:buChar char="•"/>
            </a:pPr>
            <a:r>
              <a:rPr lang="en-US">
                <a:ea typeface="+mn-lt"/>
                <a:cs typeface="+mn-lt"/>
              </a:rPr>
              <a:t>Lightweight, high-performance </a:t>
            </a:r>
            <a:r>
              <a:rPr lang="en-US" b="1">
                <a:ea typeface="+mn-lt"/>
                <a:cs typeface="+mn-lt"/>
              </a:rPr>
              <a:t>LDAPv3 directory server</a:t>
            </a:r>
            <a:endParaRPr lang="en-US"/>
          </a:p>
          <a:p>
            <a:pPr marL="285750" indent="-285750">
              <a:buFont typeface="Arial"/>
              <a:buChar char="•"/>
            </a:pPr>
            <a:r>
              <a:rPr lang="en-US">
                <a:ea typeface="+mn-lt"/>
                <a:cs typeface="+mn-lt"/>
              </a:rPr>
              <a:t>Supports </a:t>
            </a:r>
            <a:r>
              <a:rPr lang="en-US" b="1">
                <a:ea typeface="+mn-lt"/>
                <a:cs typeface="+mn-lt"/>
              </a:rPr>
              <a:t>LDAP, REST, DSML, SCIM</a:t>
            </a:r>
            <a:r>
              <a:rPr lang="en-US">
                <a:ea typeface="+mn-lt"/>
                <a:cs typeface="+mn-lt"/>
              </a:rPr>
              <a:t> protocols</a:t>
            </a:r>
            <a:endParaRPr lang="en-US"/>
          </a:p>
          <a:p>
            <a:pPr marL="285750" indent="-285750">
              <a:buFont typeface="Arial"/>
              <a:buChar char="•"/>
            </a:pPr>
            <a:r>
              <a:rPr lang="en-US">
                <a:ea typeface="+mn-lt"/>
                <a:cs typeface="+mn-lt"/>
              </a:rPr>
              <a:t>Scalable, reliable with built-in </a:t>
            </a:r>
            <a:r>
              <a:rPr lang="en-US" b="1">
                <a:ea typeface="+mn-lt"/>
                <a:cs typeface="+mn-lt"/>
              </a:rPr>
              <a:t>multi-master replication</a:t>
            </a:r>
            <a:endParaRPr lang="en-US"/>
          </a:p>
          <a:p>
            <a:pPr marL="285750" indent="-285750">
              <a:buFont typeface="Arial"/>
              <a:buChar char="•"/>
            </a:pPr>
            <a:r>
              <a:rPr lang="en-US">
                <a:ea typeface="+mn-lt"/>
                <a:cs typeface="+mn-lt"/>
              </a:rPr>
              <a:t>Manages identity data securely for enterprise environments</a:t>
            </a:r>
            <a:endParaRPr lang="en-US"/>
          </a:p>
          <a:p>
            <a:endParaRPr lang="en-US" dirty="0"/>
          </a:p>
        </p:txBody>
      </p:sp>
    </p:spTree>
    <p:extLst>
      <p:ext uri="{BB962C8B-B14F-4D97-AF65-F5344CB8AC3E}">
        <p14:creationId xmlns:p14="http://schemas.microsoft.com/office/powerpoint/2010/main" val="3181164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5B398-797B-0D61-C6A7-B115E17E355A}"/>
              </a:ext>
            </a:extLst>
          </p:cNvPr>
          <p:cNvSpPr>
            <a:spLocks noGrp="1"/>
          </p:cNvSpPr>
          <p:nvPr>
            <p:ph type="title"/>
          </p:nvPr>
        </p:nvSpPr>
        <p:spPr/>
        <p:txBody>
          <a:bodyPr/>
          <a:lstStyle/>
          <a:p>
            <a:r>
              <a:rPr lang="en-US">
                <a:cs typeface="Posterama"/>
              </a:rPr>
              <a:t>What is OUDSM?</a:t>
            </a:r>
            <a:endParaRPr lang="en-US"/>
          </a:p>
        </p:txBody>
      </p:sp>
      <p:sp>
        <p:nvSpPr>
          <p:cNvPr id="3" name="Content Placeholder 2">
            <a:extLst>
              <a:ext uri="{FF2B5EF4-FFF2-40B4-BE49-F238E27FC236}">
                <a16:creationId xmlns:a16="http://schemas.microsoft.com/office/drawing/2014/main" id="{AB956741-EE3E-5F1C-4C35-5FD59CFD2B71}"/>
              </a:ext>
            </a:extLst>
          </p:cNvPr>
          <p:cNvSpPr>
            <a:spLocks noGrp="1"/>
          </p:cNvSpPr>
          <p:nvPr>
            <p:ph idx="1"/>
          </p:nvPr>
        </p:nvSpPr>
        <p:spPr/>
        <p:txBody>
          <a:bodyPr vert="horz" lIns="91440" tIns="45720" rIns="91440" bIns="45720" rtlCol="0" anchor="t">
            <a:normAutofit/>
          </a:bodyPr>
          <a:lstStyle/>
          <a:p>
            <a:pPr marL="285750" indent="-285750">
              <a:buFont typeface="Arial"/>
              <a:buChar char="•"/>
            </a:pPr>
            <a:r>
              <a:rPr lang="en-US">
                <a:ea typeface="+mn-lt"/>
                <a:cs typeface="+mn-lt"/>
              </a:rPr>
              <a:t>Web-based </a:t>
            </a:r>
            <a:r>
              <a:rPr lang="en-US" b="1">
                <a:ea typeface="+mn-lt"/>
                <a:cs typeface="+mn-lt"/>
              </a:rPr>
              <a:t>administration console</a:t>
            </a:r>
            <a:r>
              <a:rPr lang="en-US">
                <a:ea typeface="+mn-lt"/>
                <a:cs typeface="+mn-lt"/>
              </a:rPr>
              <a:t> for OUD</a:t>
            </a:r>
            <a:endParaRPr lang="en-US"/>
          </a:p>
          <a:p>
            <a:pPr marL="285750" indent="-285750">
              <a:buFont typeface="Arial"/>
              <a:buChar char="•"/>
            </a:pPr>
            <a:r>
              <a:rPr lang="en-US">
                <a:ea typeface="+mn-lt"/>
                <a:cs typeface="+mn-lt"/>
              </a:rPr>
              <a:t>Visual tools for managing directory data and schema</a:t>
            </a:r>
            <a:endParaRPr lang="en-US"/>
          </a:p>
          <a:p>
            <a:pPr marL="285750" indent="-285750">
              <a:buFont typeface="Arial"/>
              <a:buChar char="•"/>
            </a:pPr>
            <a:r>
              <a:rPr lang="en-US">
                <a:ea typeface="+mn-lt"/>
                <a:cs typeface="+mn-lt"/>
              </a:rPr>
              <a:t>Real-time </a:t>
            </a:r>
            <a:r>
              <a:rPr lang="en-US" b="1">
                <a:ea typeface="+mn-lt"/>
                <a:cs typeface="+mn-lt"/>
              </a:rPr>
              <a:t>monitoring</a:t>
            </a:r>
            <a:r>
              <a:rPr lang="en-US">
                <a:ea typeface="+mn-lt"/>
                <a:cs typeface="+mn-lt"/>
              </a:rPr>
              <a:t> of servers</a:t>
            </a:r>
            <a:endParaRPr lang="en-US"/>
          </a:p>
          <a:p>
            <a:pPr marL="285750" indent="-285750">
              <a:buFont typeface="Arial"/>
              <a:buChar char="•"/>
            </a:pPr>
            <a:r>
              <a:rPr lang="en-US">
                <a:ea typeface="+mn-lt"/>
                <a:cs typeface="+mn-lt"/>
              </a:rPr>
              <a:t>Simplifies configuration of replication, security, and users</a:t>
            </a:r>
            <a:endParaRPr lang="en-US"/>
          </a:p>
          <a:p>
            <a:endParaRPr lang="en-US" dirty="0"/>
          </a:p>
        </p:txBody>
      </p:sp>
    </p:spTree>
    <p:extLst>
      <p:ext uri="{BB962C8B-B14F-4D97-AF65-F5344CB8AC3E}">
        <p14:creationId xmlns:p14="http://schemas.microsoft.com/office/powerpoint/2010/main" val="2698855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E9133-DAC8-AE2E-F41E-6B03D281CFB8}"/>
              </a:ext>
            </a:extLst>
          </p:cNvPr>
          <p:cNvSpPr>
            <a:spLocks noGrp="1"/>
          </p:cNvSpPr>
          <p:nvPr>
            <p:ph type="title"/>
          </p:nvPr>
        </p:nvSpPr>
        <p:spPr/>
        <p:txBody>
          <a:bodyPr/>
          <a:lstStyle/>
          <a:p>
            <a:r>
              <a:rPr lang="en-US">
                <a:cs typeface="Posterama"/>
              </a:rPr>
              <a:t>What is OKD? </a:t>
            </a:r>
            <a:endParaRPr lang="en-US"/>
          </a:p>
        </p:txBody>
      </p:sp>
      <p:sp>
        <p:nvSpPr>
          <p:cNvPr id="3" name="Content Placeholder 2">
            <a:extLst>
              <a:ext uri="{FF2B5EF4-FFF2-40B4-BE49-F238E27FC236}">
                <a16:creationId xmlns:a16="http://schemas.microsoft.com/office/drawing/2014/main" id="{4D57B7AA-6A46-8035-B5DD-1FB20C7654EC}"/>
              </a:ext>
            </a:extLst>
          </p:cNvPr>
          <p:cNvSpPr>
            <a:spLocks noGrp="1"/>
          </p:cNvSpPr>
          <p:nvPr>
            <p:ph idx="1"/>
          </p:nvPr>
        </p:nvSpPr>
        <p:spPr/>
        <p:txBody>
          <a:bodyPr vert="horz" lIns="91440" tIns="45720" rIns="91440" bIns="45720" rtlCol="0" anchor="t">
            <a:normAutofit/>
          </a:bodyPr>
          <a:lstStyle/>
          <a:p>
            <a:pPr marL="285750" indent="-285750">
              <a:buFont typeface="Arial"/>
              <a:buChar char="•"/>
            </a:pPr>
            <a:r>
              <a:rPr lang="en-US">
                <a:ea typeface="+mn-lt"/>
                <a:cs typeface="+mn-lt"/>
              </a:rPr>
              <a:t>OKD = </a:t>
            </a:r>
            <a:r>
              <a:rPr lang="en-US" b="1">
                <a:ea typeface="+mn-lt"/>
                <a:cs typeface="+mn-lt"/>
              </a:rPr>
              <a:t>Origin Community Distribution of Kubernetes</a:t>
            </a:r>
            <a:endParaRPr lang="en-US"/>
          </a:p>
          <a:p>
            <a:pPr marL="285750" indent="-285750">
              <a:buFont typeface="Arial"/>
              <a:buChar char="•"/>
            </a:pPr>
            <a:r>
              <a:rPr lang="en-US">
                <a:ea typeface="+mn-lt"/>
                <a:cs typeface="+mn-lt"/>
              </a:rPr>
              <a:t>The </a:t>
            </a:r>
            <a:r>
              <a:rPr lang="en-US" b="1">
                <a:ea typeface="+mn-lt"/>
                <a:cs typeface="+mn-lt"/>
              </a:rPr>
              <a:t>upstream open-source version</a:t>
            </a:r>
            <a:r>
              <a:rPr lang="en-US">
                <a:ea typeface="+mn-lt"/>
                <a:cs typeface="+mn-lt"/>
              </a:rPr>
              <a:t> of Red Hat OpenShift</a:t>
            </a:r>
            <a:endParaRPr lang="en-US"/>
          </a:p>
          <a:p>
            <a:pPr marL="285750" indent="-285750">
              <a:buFont typeface="Arial"/>
              <a:buChar char="•"/>
            </a:pPr>
            <a:r>
              <a:rPr lang="en-US">
                <a:ea typeface="+mn-lt"/>
                <a:cs typeface="+mn-lt"/>
              </a:rPr>
              <a:t>Used to run containerized applications with:</a:t>
            </a:r>
            <a:endParaRPr lang="en-US"/>
          </a:p>
          <a:p>
            <a:pPr marL="285750" indent="-285750">
              <a:buFont typeface="Arial"/>
              <a:buChar char="•"/>
            </a:pPr>
            <a:r>
              <a:rPr lang="en-US">
                <a:ea typeface="+mn-lt"/>
                <a:cs typeface="+mn-lt"/>
              </a:rPr>
              <a:t>Kubernetes</a:t>
            </a:r>
            <a:endParaRPr lang="en-US"/>
          </a:p>
          <a:p>
            <a:pPr marL="285750" indent="-285750">
              <a:buFont typeface="Arial"/>
              <a:buChar char="•"/>
            </a:pPr>
            <a:r>
              <a:rPr lang="en-US">
                <a:ea typeface="+mn-lt"/>
                <a:cs typeface="+mn-lt"/>
              </a:rPr>
              <a:t>Built-in CI/CD (Jenkins pipelines, etc.)</a:t>
            </a:r>
            <a:endParaRPr lang="en-US"/>
          </a:p>
          <a:p>
            <a:pPr marL="285750" indent="-285750">
              <a:buFont typeface="Arial"/>
              <a:buChar char="•"/>
            </a:pPr>
            <a:r>
              <a:rPr lang="en-US">
                <a:ea typeface="+mn-lt"/>
                <a:cs typeface="+mn-lt"/>
              </a:rPr>
              <a:t>Web console and CLI interfaces</a:t>
            </a:r>
            <a:endParaRPr lang="en-US"/>
          </a:p>
          <a:p>
            <a:pPr marL="285750" indent="-285750">
              <a:buFont typeface="Arial"/>
              <a:buChar char="•"/>
            </a:pPr>
            <a:r>
              <a:rPr lang="en-US">
                <a:ea typeface="+mn-lt"/>
                <a:cs typeface="+mn-lt"/>
              </a:rPr>
              <a:t>In this case, deployed on </a:t>
            </a:r>
            <a:r>
              <a:rPr lang="en-US" b="1">
                <a:ea typeface="+mn-lt"/>
                <a:cs typeface="+mn-lt"/>
              </a:rPr>
              <a:t>Oracle Cloud Infrastructure (OCI)</a:t>
            </a:r>
            <a:endParaRPr lang="en-US"/>
          </a:p>
          <a:p>
            <a:endParaRPr lang="en-US" dirty="0"/>
          </a:p>
        </p:txBody>
      </p:sp>
    </p:spTree>
    <p:extLst>
      <p:ext uri="{BB962C8B-B14F-4D97-AF65-F5344CB8AC3E}">
        <p14:creationId xmlns:p14="http://schemas.microsoft.com/office/powerpoint/2010/main" val="2176208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F2539-42DA-EEF1-9082-9DAB3A5CD5C7}"/>
              </a:ext>
            </a:extLst>
          </p:cNvPr>
          <p:cNvSpPr>
            <a:spLocks noGrp="1"/>
          </p:cNvSpPr>
          <p:nvPr>
            <p:ph type="title"/>
          </p:nvPr>
        </p:nvSpPr>
        <p:spPr/>
        <p:txBody>
          <a:bodyPr/>
          <a:lstStyle/>
          <a:p>
            <a:r>
              <a:rPr lang="en-US">
                <a:cs typeface="Posterama"/>
              </a:rPr>
              <a:t>What are we trying to achive? </a:t>
            </a:r>
            <a:endParaRPr lang="en-US"/>
          </a:p>
        </p:txBody>
      </p:sp>
      <p:sp>
        <p:nvSpPr>
          <p:cNvPr id="3" name="Content Placeholder 2">
            <a:extLst>
              <a:ext uri="{FF2B5EF4-FFF2-40B4-BE49-F238E27FC236}">
                <a16:creationId xmlns:a16="http://schemas.microsoft.com/office/drawing/2014/main" id="{DBD6E0D3-26D6-1D6A-A943-B35602ABF260}"/>
              </a:ext>
            </a:extLst>
          </p:cNvPr>
          <p:cNvSpPr>
            <a:spLocks noGrp="1"/>
          </p:cNvSpPr>
          <p:nvPr>
            <p:ph idx="1"/>
          </p:nvPr>
        </p:nvSpPr>
        <p:spPr/>
        <p:txBody>
          <a:bodyPr vert="horz" lIns="91440" tIns="45720" rIns="91440" bIns="45720" rtlCol="0" anchor="t">
            <a:normAutofit/>
          </a:bodyPr>
          <a:lstStyle/>
          <a:p>
            <a:pPr marL="342900" indent="-342900">
              <a:buFont typeface="Arial" panose="020B0504020202020204" pitchFamily="34" charset="0"/>
              <a:buChar char="•"/>
            </a:pPr>
            <a:r>
              <a:rPr lang="en-US">
                <a:ea typeface="+mn-lt"/>
                <a:cs typeface="+mn-lt"/>
              </a:rPr>
              <a:t>Deploy OUD and OUDSM on OKD running in OC</a:t>
            </a:r>
            <a:endParaRPr lang="en-US" dirty="0">
              <a:ea typeface="+mn-lt"/>
              <a:cs typeface="+mn-lt"/>
            </a:endParaRPr>
          </a:p>
          <a:p>
            <a:pPr marL="342900" indent="-342900">
              <a:buFont typeface="Arial" panose="020B0504020202020204" pitchFamily="34" charset="0"/>
              <a:buChar char="•"/>
            </a:pPr>
            <a:r>
              <a:rPr lang="en-US">
                <a:ea typeface="+mn-lt"/>
                <a:cs typeface="+mn-lt"/>
              </a:rPr>
              <a:t>Modernize directory services using containers</a:t>
            </a:r>
          </a:p>
          <a:p>
            <a:pPr marL="342900" indent="-342900">
              <a:buFont typeface="Arial" panose="020B0504020202020204" pitchFamily="34" charset="0"/>
              <a:buChar char="•"/>
            </a:pPr>
            <a:r>
              <a:rPr lang="en-US">
                <a:ea typeface="+mn-lt"/>
                <a:cs typeface="+mn-lt"/>
              </a:rPr>
              <a:t>Provide scalable, HA-ready, and automated IAM services</a:t>
            </a:r>
          </a:p>
          <a:p>
            <a:pPr marL="342900" indent="-342900">
              <a:buFont typeface="Arial" panose="020B0504020202020204" pitchFamily="34" charset="0"/>
              <a:buChar char="•"/>
            </a:pPr>
            <a:r>
              <a:rPr lang="en-US">
                <a:ea typeface="+mn-lt"/>
                <a:cs typeface="+mn-lt"/>
              </a:rPr>
              <a:t>Integrate with cloud-native DevSecOps practices</a:t>
            </a:r>
            <a:endParaRPr lang="en-US"/>
          </a:p>
          <a:p>
            <a:endParaRPr lang="en-US" dirty="0"/>
          </a:p>
        </p:txBody>
      </p:sp>
    </p:spTree>
    <p:extLst>
      <p:ext uri="{BB962C8B-B14F-4D97-AF65-F5344CB8AC3E}">
        <p14:creationId xmlns:p14="http://schemas.microsoft.com/office/powerpoint/2010/main" val="997930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CF52A5B-5810-4130-A3DB-FD2582D053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B8FE145C-BED6-4533-8211-7AC773F7A2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916078" cy="6858000"/>
          </a:xfrm>
          <a:custGeom>
            <a:avLst/>
            <a:gdLst>
              <a:gd name="connsiteX0" fmla="*/ 8183400 w 8916078"/>
              <a:gd name="connsiteY0" fmla="*/ 3865853 h 6820849"/>
              <a:gd name="connsiteX1" fmla="*/ 8259593 w 8916078"/>
              <a:gd name="connsiteY1" fmla="*/ 3878252 h 6820849"/>
              <a:gd name="connsiteX2" fmla="*/ 8529076 w 8916078"/>
              <a:gd name="connsiteY2" fmla="*/ 4345010 h 6820849"/>
              <a:gd name="connsiteX3" fmla="*/ 8062319 w 8916078"/>
              <a:gd name="connsiteY3" fmla="*/ 4614493 h 6820849"/>
              <a:gd name="connsiteX4" fmla="*/ 7792836 w 8916078"/>
              <a:gd name="connsiteY4" fmla="*/ 4147735 h 6820849"/>
              <a:gd name="connsiteX5" fmla="*/ 8183400 w 8916078"/>
              <a:gd name="connsiteY5" fmla="*/ 3865853 h 6820849"/>
              <a:gd name="connsiteX6" fmla="*/ 8734942 w 8916078"/>
              <a:gd name="connsiteY6" fmla="*/ 2667480 h 6820849"/>
              <a:gd name="connsiteX7" fmla="*/ 8773412 w 8916078"/>
              <a:gd name="connsiteY7" fmla="*/ 2673741 h 6820849"/>
              <a:gd name="connsiteX8" fmla="*/ 8909474 w 8916078"/>
              <a:gd name="connsiteY8" fmla="*/ 2909407 h 6820849"/>
              <a:gd name="connsiteX9" fmla="*/ 8673808 w 8916078"/>
              <a:gd name="connsiteY9" fmla="*/ 3045469 h 6820849"/>
              <a:gd name="connsiteX10" fmla="*/ 8537746 w 8916078"/>
              <a:gd name="connsiteY10" fmla="*/ 2809802 h 6820849"/>
              <a:gd name="connsiteX11" fmla="*/ 8697151 w 8916078"/>
              <a:gd name="connsiteY11" fmla="*/ 2668961 h 6820849"/>
              <a:gd name="connsiteX12" fmla="*/ 8734942 w 8916078"/>
              <a:gd name="connsiteY12" fmla="*/ 2667480 h 6820849"/>
              <a:gd name="connsiteX13" fmla="*/ 8776652 w 8916078"/>
              <a:gd name="connsiteY13" fmla="*/ 1 h 6820849"/>
              <a:gd name="connsiteX14" fmla="*/ 8786961 w 8916078"/>
              <a:gd name="connsiteY14" fmla="*/ 42970 h 6820849"/>
              <a:gd name="connsiteX15" fmla="*/ 8775876 w 8916078"/>
              <a:gd name="connsiteY15" fmla="*/ 219853 h 6820849"/>
              <a:gd name="connsiteX16" fmla="*/ 8229255 w 8916078"/>
              <a:gd name="connsiteY16" fmla="*/ 535444 h 6820849"/>
              <a:gd name="connsiteX17" fmla="*/ 7899142 w 8916078"/>
              <a:gd name="connsiteY17" fmla="*/ 78053 h 6820849"/>
              <a:gd name="connsiteX18" fmla="*/ 7911844 w 8916078"/>
              <a:gd name="connsiteY18" fmla="*/ 1 h 6820849"/>
              <a:gd name="connsiteX19" fmla="*/ 0 w 8916078"/>
              <a:gd name="connsiteY19" fmla="*/ 0 h 6820849"/>
              <a:gd name="connsiteX20" fmla="*/ 3064542 w 8916078"/>
              <a:gd name="connsiteY20" fmla="*/ 1 h 6820849"/>
              <a:gd name="connsiteX21" fmla="*/ 3626351 w 8916078"/>
              <a:gd name="connsiteY21" fmla="*/ 1 h 6820849"/>
              <a:gd name="connsiteX22" fmla="*/ 6388767 w 8916078"/>
              <a:gd name="connsiteY22" fmla="*/ 1 h 6820849"/>
              <a:gd name="connsiteX23" fmla="*/ 7293415 w 8916078"/>
              <a:gd name="connsiteY23" fmla="*/ 1 h 6820849"/>
              <a:gd name="connsiteX24" fmla="*/ 7285291 w 8916078"/>
              <a:gd name="connsiteY24" fmla="*/ 184997 h 6820849"/>
              <a:gd name="connsiteX25" fmla="*/ 7288318 w 8916078"/>
              <a:gd name="connsiteY25" fmla="*/ 419996 h 6820849"/>
              <a:gd name="connsiteX26" fmla="*/ 7736280 w 8916078"/>
              <a:gd name="connsiteY26" fmla="*/ 1068100 h 6820849"/>
              <a:gd name="connsiteX27" fmla="*/ 8184147 w 8916078"/>
              <a:gd name="connsiteY27" fmla="*/ 2589406 h 6820849"/>
              <a:gd name="connsiteX28" fmla="*/ 7738154 w 8916078"/>
              <a:gd name="connsiteY28" fmla="*/ 3164270 h 6820849"/>
              <a:gd name="connsiteX29" fmla="*/ 7579762 w 8916078"/>
              <a:gd name="connsiteY29" fmla="*/ 4641256 h 6820849"/>
              <a:gd name="connsiteX30" fmla="*/ 8191492 w 8916078"/>
              <a:gd name="connsiteY30" fmla="*/ 5670858 h 6820849"/>
              <a:gd name="connsiteX31" fmla="*/ 8477065 w 8916078"/>
              <a:gd name="connsiteY31" fmla="*/ 6707671 h 6820849"/>
              <a:gd name="connsiteX32" fmla="*/ 8478852 w 8916078"/>
              <a:gd name="connsiteY32" fmla="*/ 6820849 h 6820849"/>
              <a:gd name="connsiteX33" fmla="*/ 0 w 8916078"/>
              <a:gd name="connsiteY33" fmla="*/ 6820849 h 6820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916078" h="6820849">
                <a:moveTo>
                  <a:pt x="8183400" y="3865853"/>
                </a:moveTo>
                <a:cubicBezTo>
                  <a:pt x="8208679" y="3867370"/>
                  <a:pt x="8234181" y="3871443"/>
                  <a:pt x="8259593" y="3878252"/>
                </a:cubicBezTo>
                <a:cubicBezTo>
                  <a:pt x="8462901" y="3932728"/>
                  <a:pt x="8583552" y="4141703"/>
                  <a:pt x="8529076" y="4345010"/>
                </a:cubicBezTo>
                <a:cubicBezTo>
                  <a:pt x="8474600" y="4548317"/>
                  <a:pt x="8265626" y="4668969"/>
                  <a:pt x="8062319" y="4614493"/>
                </a:cubicBezTo>
                <a:cubicBezTo>
                  <a:pt x="7859012" y="4560017"/>
                  <a:pt x="7738360" y="4351042"/>
                  <a:pt x="7792836" y="4147735"/>
                </a:cubicBezTo>
                <a:cubicBezTo>
                  <a:pt x="7840502" y="3969841"/>
                  <a:pt x="8006457" y="3855230"/>
                  <a:pt x="8183400" y="3865853"/>
                </a:cubicBezTo>
                <a:close/>
                <a:moveTo>
                  <a:pt x="8734942" y="2667480"/>
                </a:moveTo>
                <a:cubicBezTo>
                  <a:pt x="8747705" y="2668246"/>
                  <a:pt x="8760581" y="2670303"/>
                  <a:pt x="8773412" y="2673741"/>
                </a:cubicBezTo>
                <a:cubicBezTo>
                  <a:pt x="8876062" y="2701246"/>
                  <a:pt x="8936980" y="2806757"/>
                  <a:pt x="8909474" y="2909407"/>
                </a:cubicBezTo>
                <a:cubicBezTo>
                  <a:pt x="8881969" y="3012057"/>
                  <a:pt x="8776458" y="3072974"/>
                  <a:pt x="8673808" y="3045469"/>
                </a:cubicBezTo>
                <a:cubicBezTo>
                  <a:pt x="8571158" y="3017965"/>
                  <a:pt x="8510241" y="2912452"/>
                  <a:pt x="8537746" y="2809802"/>
                </a:cubicBezTo>
                <a:cubicBezTo>
                  <a:pt x="8558375" y="2732815"/>
                  <a:pt x="8622882" y="2679302"/>
                  <a:pt x="8697151" y="2668961"/>
                </a:cubicBezTo>
                <a:cubicBezTo>
                  <a:pt x="8709529" y="2667237"/>
                  <a:pt x="8722180" y="2666714"/>
                  <a:pt x="8734942" y="2667480"/>
                </a:cubicBezTo>
                <a:close/>
                <a:moveTo>
                  <a:pt x="8776652" y="1"/>
                </a:moveTo>
                <a:lnTo>
                  <a:pt x="8786961" y="42970"/>
                </a:lnTo>
                <a:cubicBezTo>
                  <a:pt x="8794957" y="100392"/>
                  <a:pt x="8791826" y="160330"/>
                  <a:pt x="8775876" y="219853"/>
                </a:cubicBezTo>
                <a:cubicBezTo>
                  <a:pt x="8712079" y="457946"/>
                  <a:pt x="8467349" y="599241"/>
                  <a:pt x="8229255" y="535444"/>
                </a:cubicBezTo>
                <a:cubicBezTo>
                  <a:pt x="8020924" y="479621"/>
                  <a:pt x="7886703" y="285271"/>
                  <a:pt x="7899142" y="78053"/>
                </a:cubicBezTo>
                <a:lnTo>
                  <a:pt x="7911844" y="1"/>
                </a:lnTo>
                <a:close/>
                <a:moveTo>
                  <a:pt x="0" y="0"/>
                </a:moveTo>
                <a:lnTo>
                  <a:pt x="3064542" y="1"/>
                </a:lnTo>
                <a:lnTo>
                  <a:pt x="3626351" y="1"/>
                </a:lnTo>
                <a:lnTo>
                  <a:pt x="6388767" y="1"/>
                </a:lnTo>
                <a:lnTo>
                  <a:pt x="7293415" y="1"/>
                </a:lnTo>
                <a:lnTo>
                  <a:pt x="7285291" y="184997"/>
                </a:lnTo>
                <a:cubicBezTo>
                  <a:pt x="7283933" y="263521"/>
                  <a:pt x="7284806" y="341911"/>
                  <a:pt x="7288318" y="419996"/>
                </a:cubicBezTo>
                <a:cubicBezTo>
                  <a:pt x="7301507" y="709488"/>
                  <a:pt x="7530168" y="891535"/>
                  <a:pt x="7736280" y="1068100"/>
                </a:cubicBezTo>
                <a:cubicBezTo>
                  <a:pt x="8250069" y="1508062"/>
                  <a:pt x="8424916" y="2032159"/>
                  <a:pt x="8184147" y="2589406"/>
                </a:cubicBezTo>
                <a:cubicBezTo>
                  <a:pt x="8090773" y="2805524"/>
                  <a:pt x="7909218" y="2993264"/>
                  <a:pt x="7738154" y="3164270"/>
                </a:cubicBezTo>
                <a:cubicBezTo>
                  <a:pt x="7279360" y="3622745"/>
                  <a:pt x="7298159" y="4154456"/>
                  <a:pt x="7579762" y="4641256"/>
                </a:cubicBezTo>
                <a:cubicBezTo>
                  <a:pt x="7780382" y="4986833"/>
                  <a:pt x="8020938" y="5311557"/>
                  <a:pt x="8191492" y="5670858"/>
                </a:cubicBezTo>
                <a:cubicBezTo>
                  <a:pt x="8357544" y="6019043"/>
                  <a:pt x="8456063" y="6366409"/>
                  <a:pt x="8477065" y="6707671"/>
                </a:cubicBezTo>
                <a:lnTo>
                  <a:pt x="8478852" y="6820849"/>
                </a:lnTo>
                <a:lnTo>
                  <a:pt x="0" y="682084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A70ED58-FEA9-2098-64F2-0E9E52323EDE}"/>
              </a:ext>
            </a:extLst>
          </p:cNvPr>
          <p:cNvSpPr>
            <a:spLocks noGrp="1"/>
          </p:cNvSpPr>
          <p:nvPr>
            <p:ph type="title"/>
          </p:nvPr>
        </p:nvSpPr>
        <p:spPr>
          <a:xfrm>
            <a:off x="609600" y="557784"/>
            <a:ext cx="10258425" cy="1325563"/>
          </a:xfrm>
        </p:spPr>
        <p:txBody>
          <a:bodyPr>
            <a:normAutofit/>
          </a:bodyPr>
          <a:lstStyle/>
          <a:p>
            <a:pPr>
              <a:lnSpc>
                <a:spcPct val="90000"/>
              </a:lnSpc>
            </a:pPr>
            <a:r>
              <a:rPr lang="en-US">
                <a:latin typeface="Avenir Next LT Pro"/>
              </a:rPr>
              <a:t>Key Features of OpenShift on OCI</a:t>
            </a:r>
            <a:endParaRPr lang="en-US"/>
          </a:p>
        </p:txBody>
      </p:sp>
      <p:sp>
        <p:nvSpPr>
          <p:cNvPr id="3" name="Content Placeholder 2">
            <a:extLst>
              <a:ext uri="{FF2B5EF4-FFF2-40B4-BE49-F238E27FC236}">
                <a16:creationId xmlns:a16="http://schemas.microsoft.com/office/drawing/2014/main" id="{C89D5A27-873F-2E56-F1ED-E60C106C47D5}"/>
              </a:ext>
            </a:extLst>
          </p:cNvPr>
          <p:cNvSpPr>
            <a:spLocks noGrp="1"/>
          </p:cNvSpPr>
          <p:nvPr>
            <p:ph idx="1"/>
          </p:nvPr>
        </p:nvSpPr>
        <p:spPr>
          <a:xfrm>
            <a:off x="609600" y="2106204"/>
            <a:ext cx="6029325" cy="4036534"/>
          </a:xfrm>
        </p:spPr>
        <p:txBody>
          <a:bodyPr vert="horz" lIns="91440" tIns="45720" rIns="91440" bIns="45720" rtlCol="0" anchor="t">
            <a:normAutofit/>
          </a:bodyPr>
          <a:lstStyle/>
          <a:p>
            <a:endParaRPr lang="en-US"/>
          </a:p>
          <a:p>
            <a:pPr marL="342900" indent="-342900">
              <a:buFont typeface="Arial" panose="020B0504020202020204" pitchFamily="34" charset="0"/>
              <a:buChar char="•"/>
            </a:pPr>
            <a:r>
              <a:rPr lang="en-US" dirty="0">
                <a:ea typeface="+mn-lt"/>
                <a:cs typeface="+mn-lt"/>
              </a:rPr>
              <a:t>Customer Managed OpenShift</a:t>
            </a:r>
            <a:endParaRPr lang="en-US"/>
          </a:p>
          <a:p>
            <a:pPr marL="342900" indent="-342900">
              <a:buFont typeface="Arial" panose="020B0504020202020204" pitchFamily="34" charset="0"/>
              <a:buChar char="•"/>
            </a:pPr>
            <a:r>
              <a:rPr lang="en-US" dirty="0">
                <a:ea typeface="+mn-lt"/>
                <a:cs typeface="+mn-lt"/>
              </a:rPr>
              <a:t>Support for Terraform Automation</a:t>
            </a:r>
            <a:endParaRPr lang="en-US"/>
          </a:p>
          <a:p>
            <a:pPr marL="342900" indent="-342900">
              <a:buFont typeface="Arial" panose="020B0504020202020204" pitchFamily="34" charset="0"/>
              <a:buChar char="•"/>
            </a:pPr>
            <a:r>
              <a:rPr lang="en-US" dirty="0">
                <a:ea typeface="+mn-lt"/>
                <a:cs typeface="+mn-lt"/>
              </a:rPr>
              <a:t>Flexible Infrastructure Options</a:t>
            </a:r>
            <a:endParaRPr lang="en-US"/>
          </a:p>
          <a:p>
            <a:pPr marL="342900" indent="-342900">
              <a:buFont typeface="Arial" panose="020B0504020202020204" pitchFamily="34" charset="0"/>
              <a:buChar char="•"/>
            </a:pPr>
            <a:r>
              <a:rPr lang="en-US">
                <a:ea typeface="+mn-lt"/>
                <a:cs typeface="+mn-lt"/>
              </a:rPr>
              <a:t>Unified Platform for all the workloads</a:t>
            </a:r>
            <a:endParaRPr lang="en-US"/>
          </a:p>
          <a:p>
            <a:pPr marL="342900" indent="-342900">
              <a:buFont typeface="Arial" panose="020B0504020202020204" pitchFamily="34" charset="0"/>
              <a:buChar char="•"/>
            </a:pPr>
            <a:r>
              <a:rPr lang="en-US" dirty="0">
                <a:ea typeface="+mn-lt"/>
                <a:cs typeface="+mn-lt"/>
              </a:rPr>
              <a:t>Best in class Performance</a:t>
            </a:r>
            <a:endParaRPr lang="en-US" dirty="0"/>
          </a:p>
          <a:p>
            <a:pPr marL="342900" indent="-342900">
              <a:buFont typeface="Arial" panose="020B0504020202020204" pitchFamily="34" charset="0"/>
              <a:buChar char="•"/>
            </a:pPr>
            <a:r>
              <a:rPr lang="en-US" dirty="0">
                <a:ea typeface="+mn-lt"/>
                <a:cs typeface="+mn-lt"/>
              </a:rPr>
              <a:t>Cost Efficiency</a:t>
            </a:r>
            <a:endParaRPr lang="en-US"/>
          </a:p>
          <a:p>
            <a:pPr marL="342900" indent="-342900">
              <a:buFont typeface="Arial" panose="020B0504020202020204" pitchFamily="34" charset="0"/>
              <a:buChar char="•"/>
            </a:pPr>
            <a:endParaRPr lang="en-US" dirty="0"/>
          </a:p>
        </p:txBody>
      </p:sp>
    </p:spTree>
    <p:extLst>
      <p:ext uri="{BB962C8B-B14F-4D97-AF65-F5344CB8AC3E}">
        <p14:creationId xmlns:p14="http://schemas.microsoft.com/office/powerpoint/2010/main" val="801188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A8C60-007A-BD8C-AECF-691A6EC92157}"/>
              </a:ext>
            </a:extLst>
          </p:cNvPr>
          <p:cNvSpPr>
            <a:spLocks noGrp="1"/>
          </p:cNvSpPr>
          <p:nvPr>
            <p:ph type="title"/>
          </p:nvPr>
        </p:nvSpPr>
        <p:spPr/>
        <p:txBody>
          <a:bodyPr/>
          <a:lstStyle/>
          <a:p>
            <a:r>
              <a:rPr lang="en-US" dirty="0">
                <a:cs typeface="Posterama"/>
              </a:rPr>
              <a:t>Oracle Resource Manager</a:t>
            </a:r>
            <a:endParaRPr lang="en-US" dirty="0"/>
          </a:p>
        </p:txBody>
      </p:sp>
      <p:pic>
        <p:nvPicPr>
          <p:cNvPr id="4" name="Content Placeholder 3" descr="A black background with white text&#10;&#10;AI-generated content may be incorrect.">
            <a:extLst>
              <a:ext uri="{FF2B5EF4-FFF2-40B4-BE49-F238E27FC236}">
                <a16:creationId xmlns:a16="http://schemas.microsoft.com/office/drawing/2014/main" id="{9D2A6701-AF82-560C-2D1C-61C07F860707}"/>
              </a:ext>
            </a:extLst>
          </p:cNvPr>
          <p:cNvPicPr>
            <a:picLocks noGrp="1" noChangeAspect="1"/>
          </p:cNvPicPr>
          <p:nvPr>
            <p:ph idx="1"/>
          </p:nvPr>
        </p:nvPicPr>
        <p:blipFill>
          <a:blip r:embed="rId2"/>
          <a:stretch>
            <a:fillRect/>
          </a:stretch>
        </p:blipFill>
        <p:spPr>
          <a:xfrm>
            <a:off x="2369969" y="2106204"/>
            <a:ext cx="7452063" cy="4036534"/>
          </a:xfrm>
          <a:prstGeom prst="rect">
            <a:avLst/>
          </a:prstGeom>
        </p:spPr>
      </p:pic>
    </p:spTree>
    <p:extLst>
      <p:ext uri="{BB962C8B-B14F-4D97-AF65-F5344CB8AC3E}">
        <p14:creationId xmlns:p14="http://schemas.microsoft.com/office/powerpoint/2010/main" val="1693387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F5E37-504C-D7BC-F4FA-40E923D83446}"/>
              </a:ext>
            </a:extLst>
          </p:cNvPr>
          <p:cNvSpPr>
            <a:spLocks noGrp="1"/>
          </p:cNvSpPr>
          <p:nvPr>
            <p:ph type="title"/>
          </p:nvPr>
        </p:nvSpPr>
        <p:spPr/>
        <p:txBody>
          <a:bodyPr/>
          <a:lstStyle/>
          <a:p>
            <a:r>
              <a:rPr lang="en-US"/>
              <a:t>Cluster Architecture in OCI</a:t>
            </a:r>
          </a:p>
          <a:p>
            <a:endParaRPr lang="en-US" dirty="0">
              <a:cs typeface="Posterama"/>
            </a:endParaRPr>
          </a:p>
        </p:txBody>
      </p:sp>
      <p:sp>
        <p:nvSpPr>
          <p:cNvPr id="3" name="Content Placeholder 2">
            <a:extLst>
              <a:ext uri="{FF2B5EF4-FFF2-40B4-BE49-F238E27FC236}">
                <a16:creationId xmlns:a16="http://schemas.microsoft.com/office/drawing/2014/main" id="{2086F427-62E4-8D24-4344-098141366CEB}"/>
              </a:ext>
            </a:extLst>
          </p:cNvPr>
          <p:cNvSpPr>
            <a:spLocks noGrp="1"/>
          </p:cNvSpPr>
          <p:nvPr>
            <p:ph idx="1"/>
          </p:nvPr>
        </p:nvSpPr>
        <p:spPr/>
        <p:txBody>
          <a:bodyPr vert="horz" lIns="91440" tIns="45720" rIns="91440" bIns="45720" rtlCol="0" anchor="t">
            <a:normAutofit/>
          </a:bodyPr>
          <a:lstStyle/>
          <a:p>
            <a:r>
              <a:rPr lang="en-US">
                <a:ea typeface="+mn-lt"/>
                <a:cs typeface="+mn-lt"/>
              </a:rPr>
              <a:t>OpenShift Container Platform clusters use OCI's DNS Resolution, Virtual Cloud Network (VCN), load balancers, and compute nodes as follows:</a:t>
            </a:r>
            <a:endParaRPr lang="en-US"/>
          </a:p>
          <a:p>
            <a:pPr marL="285750" indent="-285750">
              <a:buFont typeface="Arial"/>
              <a:buChar char="•"/>
            </a:pPr>
            <a:r>
              <a:rPr lang="en-US">
                <a:ea typeface="+mn-lt"/>
                <a:cs typeface="+mn-lt"/>
              </a:rPr>
              <a:t>Network traffic is resolved with OCI DNS.</a:t>
            </a:r>
            <a:endParaRPr lang="en-US"/>
          </a:p>
          <a:p>
            <a:pPr marL="285750" indent="-285750">
              <a:buFont typeface="Arial"/>
              <a:buChar char="•"/>
            </a:pPr>
            <a:r>
              <a:rPr lang="en-US">
                <a:ea typeface="+mn-lt"/>
                <a:cs typeface="+mn-lt"/>
              </a:rPr>
              <a:t>Traffic is routed to the VCN assigned to the cluster compute nodes.</a:t>
            </a:r>
            <a:endParaRPr lang="en-US"/>
          </a:p>
          <a:p>
            <a:pPr marL="285750" indent="-285750">
              <a:buFont typeface="Arial"/>
              <a:buChar char="•"/>
            </a:pPr>
            <a:r>
              <a:rPr lang="en-US">
                <a:ea typeface="+mn-lt"/>
                <a:cs typeface="+mn-lt"/>
              </a:rPr>
              <a:t>Within the VCN's public subnet, an external Load Balancer routes traffic to the control plane (master) nodes in a private subnet.</a:t>
            </a:r>
            <a:endParaRPr lang="en-US"/>
          </a:p>
          <a:p>
            <a:pPr marL="285750" indent="-285750">
              <a:buFont typeface="Arial"/>
              <a:buChar char="•"/>
            </a:pPr>
            <a:r>
              <a:rPr lang="en-US">
                <a:ea typeface="+mn-lt"/>
                <a:cs typeface="+mn-lt"/>
              </a:rPr>
              <a:t>The control plane nodes use an internal Load Balancer to communicate with the cluster's compute nodes.</a:t>
            </a:r>
            <a:endParaRPr lang="en-US"/>
          </a:p>
          <a:p>
            <a:endParaRPr lang="en-US" dirty="0"/>
          </a:p>
        </p:txBody>
      </p:sp>
    </p:spTree>
    <p:extLst>
      <p:ext uri="{BB962C8B-B14F-4D97-AF65-F5344CB8AC3E}">
        <p14:creationId xmlns:p14="http://schemas.microsoft.com/office/powerpoint/2010/main" val="2205056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042E603F-28B7-4831-BF23-65FBAB13D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4D39700F-2B10-4402-A7DD-06EE22458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32968"/>
            <a:ext cx="9560477" cy="6625032"/>
          </a:xfrm>
          <a:custGeom>
            <a:avLst/>
            <a:gdLst>
              <a:gd name="connsiteX0" fmla="*/ 8831314 w 9263816"/>
              <a:gd name="connsiteY0" fmla="*/ 5943878 h 6858000"/>
              <a:gd name="connsiteX1" fmla="*/ 9179783 w 9263816"/>
              <a:gd name="connsiteY1" fmla="*/ 6086141 h 6858000"/>
              <a:gd name="connsiteX2" fmla="*/ 9260887 w 9263816"/>
              <a:gd name="connsiteY2" fmla="*/ 6279156 h 6858000"/>
              <a:gd name="connsiteX3" fmla="*/ 8925621 w 9263816"/>
              <a:gd name="connsiteY3" fmla="*/ 6708712 h 6858000"/>
              <a:gd name="connsiteX4" fmla="*/ 8496050 w 9263816"/>
              <a:gd name="connsiteY4" fmla="*/ 6373449 h 6858000"/>
              <a:gd name="connsiteX5" fmla="*/ 8831314 w 9263816"/>
              <a:gd name="connsiteY5" fmla="*/ 5943878 h 6858000"/>
              <a:gd name="connsiteX6" fmla="*/ 7397485 w 9263816"/>
              <a:gd name="connsiteY6" fmla="*/ 5931706 h 6858000"/>
              <a:gd name="connsiteX7" fmla="*/ 7917779 w 9263816"/>
              <a:gd name="connsiteY7" fmla="*/ 6191864 h 6858000"/>
              <a:gd name="connsiteX8" fmla="*/ 8013467 w 9263816"/>
              <a:gd name="connsiteY8" fmla="*/ 6375784 h 6858000"/>
              <a:gd name="connsiteX9" fmla="*/ 8021879 w 9263816"/>
              <a:gd name="connsiteY9" fmla="*/ 6753751 h 6858000"/>
              <a:gd name="connsiteX10" fmla="*/ 7981316 w 9263816"/>
              <a:gd name="connsiteY10" fmla="*/ 6858000 h 6858000"/>
              <a:gd name="connsiteX11" fmla="*/ 6819486 w 9263816"/>
              <a:gd name="connsiteY11" fmla="*/ 6858000 h 6858000"/>
              <a:gd name="connsiteX12" fmla="*/ 6785199 w 9263816"/>
              <a:gd name="connsiteY12" fmla="*/ 6781101 h 6858000"/>
              <a:gd name="connsiteX13" fmla="*/ 7196747 w 9263816"/>
              <a:gd name="connsiteY13" fmla="*/ 5964309 h 6858000"/>
              <a:gd name="connsiteX14" fmla="*/ 7397485 w 9263816"/>
              <a:gd name="connsiteY14" fmla="*/ 5931706 h 6858000"/>
              <a:gd name="connsiteX15" fmla="*/ 1505570 w 9263816"/>
              <a:gd name="connsiteY15" fmla="*/ 227178 h 6858000"/>
              <a:gd name="connsiteX16" fmla="*/ 2026489 w 9263816"/>
              <a:gd name="connsiteY16" fmla="*/ 392370 h 6858000"/>
              <a:gd name="connsiteX17" fmla="*/ 2444553 w 9263816"/>
              <a:gd name="connsiteY17" fmla="*/ 1654853 h 6858000"/>
              <a:gd name="connsiteX18" fmla="*/ 3183153 w 9263816"/>
              <a:gd name="connsiteY18" fmla="*/ 2116208 h 6858000"/>
              <a:gd name="connsiteX19" fmla="*/ 4288384 w 9263816"/>
              <a:gd name="connsiteY19" fmla="*/ 1291908 h 6858000"/>
              <a:gd name="connsiteX20" fmla="*/ 5472602 w 9263816"/>
              <a:gd name="connsiteY20" fmla="*/ 1697818 h 6858000"/>
              <a:gd name="connsiteX21" fmla="*/ 5844697 w 9263816"/>
              <a:gd name="connsiteY21" fmla="*/ 3444791 h 6858000"/>
              <a:gd name="connsiteX22" fmla="*/ 6715674 w 9263816"/>
              <a:gd name="connsiteY22" fmla="*/ 4065208 h 6858000"/>
              <a:gd name="connsiteX23" fmla="*/ 8130429 w 9263816"/>
              <a:gd name="connsiteY23" fmla="*/ 4101787 h 6858000"/>
              <a:gd name="connsiteX24" fmla="*/ 8624630 w 9263816"/>
              <a:gd name="connsiteY24" fmla="*/ 4686202 h 6858000"/>
              <a:gd name="connsiteX25" fmla="*/ 8623843 w 9263816"/>
              <a:gd name="connsiteY25" fmla="*/ 4685749 h 6858000"/>
              <a:gd name="connsiteX26" fmla="*/ 8646859 w 9263816"/>
              <a:gd name="connsiteY26" fmla="*/ 4835156 h 6858000"/>
              <a:gd name="connsiteX27" fmla="*/ 8079403 w 9263816"/>
              <a:gd name="connsiteY27" fmla="*/ 5661624 h 6858000"/>
              <a:gd name="connsiteX28" fmla="*/ 6833105 w 9263816"/>
              <a:gd name="connsiteY28" fmla="*/ 5397208 h 6858000"/>
              <a:gd name="connsiteX29" fmla="*/ 5900832 w 9263816"/>
              <a:gd name="connsiteY29" fmla="*/ 5944462 h 6858000"/>
              <a:gd name="connsiteX30" fmla="*/ 6067212 w 9263816"/>
              <a:gd name="connsiteY30" fmla="*/ 6811916 h 6858000"/>
              <a:gd name="connsiteX31" fmla="*/ 6089565 w 9263816"/>
              <a:gd name="connsiteY31" fmla="*/ 6858000 h 6858000"/>
              <a:gd name="connsiteX32" fmla="*/ 0 w 9263816"/>
              <a:gd name="connsiteY32" fmla="*/ 6858000 h 6858000"/>
              <a:gd name="connsiteX33" fmla="*/ 0 w 9263816"/>
              <a:gd name="connsiteY33" fmla="*/ 2181377 h 6858000"/>
              <a:gd name="connsiteX34" fmla="*/ 73069 w 9263816"/>
              <a:gd name="connsiteY34" fmla="*/ 2215839 h 6858000"/>
              <a:gd name="connsiteX35" fmla="*/ 335445 w 9263816"/>
              <a:gd name="connsiteY35" fmla="*/ 2237140 h 6858000"/>
              <a:gd name="connsiteX36" fmla="*/ 752878 w 9263816"/>
              <a:gd name="connsiteY36" fmla="*/ 1445285 h 6858000"/>
              <a:gd name="connsiteX37" fmla="*/ 1202551 w 9263816"/>
              <a:gd name="connsiteY37" fmla="*/ 314229 h 6858000"/>
              <a:gd name="connsiteX38" fmla="*/ 1505570 w 9263816"/>
              <a:gd name="connsiteY38" fmla="*/ 227178 h 6858000"/>
              <a:gd name="connsiteX39" fmla="*/ 3142509 w 9263816"/>
              <a:gd name="connsiteY39" fmla="*/ 68854 h 6858000"/>
              <a:gd name="connsiteX40" fmla="*/ 3490978 w 9263816"/>
              <a:gd name="connsiteY40" fmla="*/ 211117 h 6858000"/>
              <a:gd name="connsiteX41" fmla="*/ 3572083 w 9263816"/>
              <a:gd name="connsiteY41" fmla="*/ 404131 h 6858000"/>
              <a:gd name="connsiteX42" fmla="*/ 3236814 w 9263816"/>
              <a:gd name="connsiteY42" fmla="*/ 833688 h 6858000"/>
              <a:gd name="connsiteX43" fmla="*/ 2807245 w 9263816"/>
              <a:gd name="connsiteY43" fmla="*/ 498425 h 6858000"/>
              <a:gd name="connsiteX44" fmla="*/ 3142509 w 9263816"/>
              <a:gd name="connsiteY44" fmla="*/ 68854 h 6858000"/>
              <a:gd name="connsiteX45" fmla="*/ 0 w 9263816"/>
              <a:gd name="connsiteY45" fmla="*/ 0 h 6858000"/>
              <a:gd name="connsiteX46" fmla="*/ 39858 w 9263816"/>
              <a:gd name="connsiteY46" fmla="*/ 0 h 6858000"/>
              <a:gd name="connsiteX47" fmla="*/ 65022 w 9263816"/>
              <a:gd name="connsiteY47" fmla="*/ 5834 h 6858000"/>
              <a:gd name="connsiteX48" fmla="*/ 389258 w 9263816"/>
              <a:gd name="connsiteY48" fmla="*/ 235630 h 6858000"/>
              <a:gd name="connsiteX49" fmla="*/ 485484 w 9263816"/>
              <a:gd name="connsiteY49" fmla="*/ 420070 h 6858000"/>
              <a:gd name="connsiteX50" fmla="*/ 74229 w 9263816"/>
              <a:gd name="connsiteY50" fmla="*/ 1237955 h 6858000"/>
              <a:gd name="connsiteX51" fmla="*/ 0 w 9263816"/>
              <a:gd name="connsiteY51" fmla="*/ 12544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263816" h="6858000">
                <a:moveTo>
                  <a:pt x="8831314" y="5943878"/>
                </a:moveTo>
                <a:cubicBezTo>
                  <a:pt x="8964281" y="5927490"/>
                  <a:pt x="9096260" y="5981362"/>
                  <a:pt x="9179783" y="6086141"/>
                </a:cubicBezTo>
                <a:cubicBezTo>
                  <a:pt x="9224074" y="6141769"/>
                  <a:pt x="9252211" y="6208560"/>
                  <a:pt x="9260887" y="6279156"/>
                </a:cubicBezTo>
                <a:cubicBezTo>
                  <a:pt x="9286897" y="6490362"/>
                  <a:pt x="9136845" y="6682672"/>
                  <a:pt x="8925621" y="6708712"/>
                </a:cubicBezTo>
                <a:cubicBezTo>
                  <a:pt x="8714398" y="6734766"/>
                  <a:pt x="8522062" y="6584655"/>
                  <a:pt x="8496050" y="6373449"/>
                </a:cubicBezTo>
                <a:cubicBezTo>
                  <a:pt x="8470038" y="6162229"/>
                  <a:pt x="8620090" y="5969920"/>
                  <a:pt x="8831314" y="5943878"/>
                </a:cubicBezTo>
                <a:close/>
                <a:moveTo>
                  <a:pt x="7397485" y="5931706"/>
                </a:moveTo>
                <a:cubicBezTo>
                  <a:pt x="7598431" y="5931157"/>
                  <a:pt x="7792965" y="6024548"/>
                  <a:pt x="7917779" y="6191864"/>
                </a:cubicBezTo>
                <a:cubicBezTo>
                  <a:pt x="7959204" y="6247714"/>
                  <a:pt x="7991530" y="6309792"/>
                  <a:pt x="8013467" y="6375784"/>
                </a:cubicBezTo>
                <a:cubicBezTo>
                  <a:pt x="8055425" y="6502973"/>
                  <a:pt x="8055748" y="6633888"/>
                  <a:pt x="8021879" y="6753751"/>
                </a:cubicBezTo>
                <a:lnTo>
                  <a:pt x="7981316" y="6858000"/>
                </a:lnTo>
                <a:lnTo>
                  <a:pt x="6819486" y="6858000"/>
                </a:lnTo>
                <a:lnTo>
                  <a:pt x="6785199" y="6781101"/>
                </a:lnTo>
                <a:cubicBezTo>
                  <a:pt x="6673307" y="6441922"/>
                  <a:pt x="6857485" y="6076251"/>
                  <a:pt x="7196747" y="5964309"/>
                </a:cubicBezTo>
                <a:cubicBezTo>
                  <a:pt x="7262809" y="5942509"/>
                  <a:pt x="7330503" y="5931889"/>
                  <a:pt x="7397485" y="5931706"/>
                </a:cubicBezTo>
                <a:close/>
                <a:moveTo>
                  <a:pt x="1505570" y="227178"/>
                </a:moveTo>
                <a:cubicBezTo>
                  <a:pt x="1691018" y="218628"/>
                  <a:pt x="1889853" y="275403"/>
                  <a:pt x="2026489" y="392370"/>
                </a:cubicBezTo>
                <a:cubicBezTo>
                  <a:pt x="2369898" y="685965"/>
                  <a:pt x="2078266" y="1147857"/>
                  <a:pt x="2444553" y="1654853"/>
                </a:cubicBezTo>
                <a:cubicBezTo>
                  <a:pt x="2492906" y="1721679"/>
                  <a:pt x="2800482" y="2144546"/>
                  <a:pt x="3183153" y="2116208"/>
                </a:cubicBezTo>
                <a:cubicBezTo>
                  <a:pt x="3673561" y="2080541"/>
                  <a:pt x="3723222" y="1441614"/>
                  <a:pt x="4288384" y="1291908"/>
                </a:cubicBezTo>
                <a:cubicBezTo>
                  <a:pt x="4689065" y="1185875"/>
                  <a:pt x="5207943" y="1366633"/>
                  <a:pt x="5472602" y="1697818"/>
                </a:cubicBezTo>
                <a:cubicBezTo>
                  <a:pt x="5891294" y="2221754"/>
                  <a:pt x="5408012" y="2790179"/>
                  <a:pt x="5844697" y="3444791"/>
                </a:cubicBezTo>
                <a:cubicBezTo>
                  <a:pt x="6149900" y="3902467"/>
                  <a:pt x="6672672" y="4053594"/>
                  <a:pt x="6715674" y="4065208"/>
                </a:cubicBezTo>
                <a:cubicBezTo>
                  <a:pt x="7326423" y="4232519"/>
                  <a:pt x="7677158" y="3817020"/>
                  <a:pt x="8130429" y="4101787"/>
                </a:cubicBezTo>
                <a:cubicBezTo>
                  <a:pt x="8226340" y="4161985"/>
                  <a:pt x="8536372" y="4356819"/>
                  <a:pt x="8624630" y="4686202"/>
                </a:cubicBezTo>
                <a:lnTo>
                  <a:pt x="8623843" y="4685749"/>
                </a:lnTo>
                <a:cubicBezTo>
                  <a:pt x="8636924" y="4734567"/>
                  <a:pt x="8644635" y="4784678"/>
                  <a:pt x="8646859" y="4835156"/>
                </a:cubicBezTo>
                <a:cubicBezTo>
                  <a:pt x="8662596" y="5196604"/>
                  <a:pt x="8398383" y="5562326"/>
                  <a:pt x="8079403" y="5661624"/>
                </a:cubicBezTo>
                <a:cubicBezTo>
                  <a:pt x="7649807" y="5795217"/>
                  <a:pt x="7430996" y="5350293"/>
                  <a:pt x="6833105" y="5397208"/>
                </a:cubicBezTo>
                <a:cubicBezTo>
                  <a:pt x="6519033" y="5421527"/>
                  <a:pt x="6056658" y="5595550"/>
                  <a:pt x="5900832" y="5944462"/>
                </a:cubicBezTo>
                <a:cubicBezTo>
                  <a:pt x="5770548" y="6236600"/>
                  <a:pt x="5916359" y="6515160"/>
                  <a:pt x="6067212" y="6811916"/>
                </a:cubicBezTo>
                <a:lnTo>
                  <a:pt x="6089565" y="6858000"/>
                </a:lnTo>
                <a:lnTo>
                  <a:pt x="0" y="6858000"/>
                </a:lnTo>
                <a:lnTo>
                  <a:pt x="0" y="2181377"/>
                </a:lnTo>
                <a:lnTo>
                  <a:pt x="73069" y="2215839"/>
                </a:lnTo>
                <a:cubicBezTo>
                  <a:pt x="165116" y="2251829"/>
                  <a:pt x="254486" y="2263171"/>
                  <a:pt x="335445" y="2237140"/>
                </a:cubicBezTo>
                <a:cubicBezTo>
                  <a:pt x="594718" y="2153707"/>
                  <a:pt x="688441" y="1733807"/>
                  <a:pt x="752878" y="1445285"/>
                </a:cubicBezTo>
                <a:cubicBezTo>
                  <a:pt x="925059" y="674068"/>
                  <a:pt x="975076" y="456292"/>
                  <a:pt x="1202551" y="314229"/>
                </a:cubicBezTo>
                <a:cubicBezTo>
                  <a:pt x="1287853" y="260956"/>
                  <a:pt x="1394302" y="232308"/>
                  <a:pt x="1505570" y="227178"/>
                </a:cubicBezTo>
                <a:close/>
                <a:moveTo>
                  <a:pt x="3142509" y="68854"/>
                </a:moveTo>
                <a:cubicBezTo>
                  <a:pt x="3275474" y="52467"/>
                  <a:pt x="3407455" y="106339"/>
                  <a:pt x="3490978" y="211117"/>
                </a:cubicBezTo>
                <a:cubicBezTo>
                  <a:pt x="3535271" y="266744"/>
                  <a:pt x="3563404" y="333535"/>
                  <a:pt x="3572083" y="404131"/>
                </a:cubicBezTo>
                <a:cubicBezTo>
                  <a:pt x="3598092" y="615337"/>
                  <a:pt x="3448040" y="807648"/>
                  <a:pt x="3236814" y="833688"/>
                </a:cubicBezTo>
                <a:cubicBezTo>
                  <a:pt x="3025594" y="859741"/>
                  <a:pt x="2833255" y="709631"/>
                  <a:pt x="2807245" y="498425"/>
                </a:cubicBezTo>
                <a:cubicBezTo>
                  <a:pt x="2781232" y="287207"/>
                  <a:pt x="2931283" y="94896"/>
                  <a:pt x="3142509" y="68854"/>
                </a:cubicBezTo>
                <a:close/>
                <a:moveTo>
                  <a:pt x="0" y="0"/>
                </a:moveTo>
                <a:lnTo>
                  <a:pt x="39858" y="0"/>
                </a:lnTo>
                <a:lnTo>
                  <a:pt x="65022" y="5834"/>
                </a:lnTo>
                <a:cubicBezTo>
                  <a:pt x="191545" y="45606"/>
                  <a:pt x="305874" y="124173"/>
                  <a:pt x="389258" y="235630"/>
                </a:cubicBezTo>
                <a:cubicBezTo>
                  <a:pt x="430983" y="291600"/>
                  <a:pt x="463360" y="353876"/>
                  <a:pt x="485484" y="420070"/>
                </a:cubicBezTo>
                <a:cubicBezTo>
                  <a:pt x="597711" y="759508"/>
                  <a:pt x="413661" y="1125662"/>
                  <a:pt x="74229" y="1237955"/>
                </a:cubicBezTo>
                <a:lnTo>
                  <a:pt x="0" y="1254477"/>
                </a:lnTo>
                <a:close/>
              </a:path>
            </a:pathLst>
          </a:cu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37" name="Background Fill">
            <a:extLst>
              <a:ext uri="{FF2B5EF4-FFF2-40B4-BE49-F238E27FC236}">
                <a16:creationId xmlns:a16="http://schemas.microsoft.com/office/drawing/2014/main" id="{31BC8F63-97F8-423D-89DA-297A1A408E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BBAB87D-2851-4F58-8AE4-FCF1D7413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Freeform: Shape 38">
            <a:extLst>
              <a:ext uri="{FF2B5EF4-FFF2-40B4-BE49-F238E27FC236}">
                <a16:creationId xmlns:a16="http://schemas.microsoft.com/office/drawing/2014/main" id="{396CFDFE-8E78-4E0B-8719-596F3ACB92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56630" y="4160168"/>
            <a:ext cx="2832322" cy="2697833"/>
          </a:xfrm>
          <a:custGeom>
            <a:avLst/>
            <a:gdLst>
              <a:gd name="connsiteX0" fmla="*/ 638993 w 2832322"/>
              <a:gd name="connsiteY0" fmla="*/ 1429605 h 2697833"/>
              <a:gd name="connsiteX1" fmla="*/ 798503 w 2832322"/>
              <a:gd name="connsiteY1" fmla="*/ 1509001 h 2697833"/>
              <a:gd name="connsiteX2" fmla="*/ 739507 w 2832322"/>
              <a:gd name="connsiteY2" fmla="*/ 1729178 h 2697833"/>
              <a:gd name="connsiteX3" fmla="*/ 519329 w 2832322"/>
              <a:gd name="connsiteY3" fmla="*/ 1670181 h 2697833"/>
              <a:gd name="connsiteX4" fmla="*/ 578327 w 2832322"/>
              <a:gd name="connsiteY4" fmla="*/ 1450005 h 2697833"/>
              <a:gd name="connsiteX5" fmla="*/ 638993 w 2832322"/>
              <a:gd name="connsiteY5" fmla="*/ 1429605 h 2697833"/>
              <a:gd name="connsiteX6" fmla="*/ 1252193 w 2832322"/>
              <a:gd name="connsiteY6" fmla="*/ 835524 h 2697833"/>
              <a:gd name="connsiteX7" fmla="*/ 1511699 w 2832322"/>
              <a:gd name="connsiteY7" fmla="*/ 997686 h 2697833"/>
              <a:gd name="connsiteX8" fmla="*/ 1392436 w 2832322"/>
              <a:gd name="connsiteY8" fmla="*/ 1442788 h 2697833"/>
              <a:gd name="connsiteX9" fmla="*/ 947333 w 2832322"/>
              <a:gd name="connsiteY9" fmla="*/ 1323523 h 2697833"/>
              <a:gd name="connsiteX10" fmla="*/ 1066598 w 2832322"/>
              <a:gd name="connsiteY10" fmla="*/ 878421 h 2697833"/>
              <a:gd name="connsiteX11" fmla="*/ 1252193 w 2832322"/>
              <a:gd name="connsiteY11" fmla="*/ 835524 h 2697833"/>
              <a:gd name="connsiteX12" fmla="*/ 2832322 w 2832322"/>
              <a:gd name="connsiteY12" fmla="*/ 0 h 2697833"/>
              <a:gd name="connsiteX13" fmla="*/ 2832322 w 2832322"/>
              <a:gd name="connsiteY13" fmla="*/ 2697833 h 2697833"/>
              <a:gd name="connsiteX14" fmla="*/ 0 w 2832322"/>
              <a:gd name="connsiteY14" fmla="*/ 2697833 h 2697833"/>
              <a:gd name="connsiteX15" fmla="*/ 12966 w 2832322"/>
              <a:gd name="connsiteY15" fmla="*/ 2631781 h 2697833"/>
              <a:gd name="connsiteX16" fmla="*/ 1052443 w 2832322"/>
              <a:gd name="connsiteY16" fmla="*/ 1806313 h 2697833"/>
              <a:gd name="connsiteX17" fmla="*/ 1721430 w 2832322"/>
              <a:gd name="connsiteY17" fmla="*/ 1489397 h 2697833"/>
              <a:gd name="connsiteX18" fmla="*/ 2115839 w 2832322"/>
              <a:gd name="connsiteY18" fmla="*/ 696540 h 2697833"/>
              <a:gd name="connsiteX19" fmla="*/ 2590689 w 2832322"/>
              <a:gd name="connsiteY19" fmla="*/ 99461 h 2697833"/>
              <a:gd name="connsiteX20" fmla="*/ 2730434 w 2832322"/>
              <a:gd name="connsiteY20" fmla="*/ 32840 h 2697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32322" h="2697833">
                <a:moveTo>
                  <a:pt x="638993" y="1429605"/>
                </a:moveTo>
                <a:cubicBezTo>
                  <a:pt x="701328" y="1421871"/>
                  <a:pt x="765121" y="1451183"/>
                  <a:pt x="798503" y="1509001"/>
                </a:cubicBezTo>
                <a:cubicBezTo>
                  <a:pt x="843012" y="1586093"/>
                  <a:pt x="816599" y="1684670"/>
                  <a:pt x="739507" y="1729178"/>
                </a:cubicBezTo>
                <a:cubicBezTo>
                  <a:pt x="662415" y="1773688"/>
                  <a:pt x="563838" y="1747275"/>
                  <a:pt x="519329" y="1670181"/>
                </a:cubicBezTo>
                <a:cubicBezTo>
                  <a:pt x="474820" y="1593091"/>
                  <a:pt x="501234" y="1494514"/>
                  <a:pt x="578327" y="1450005"/>
                </a:cubicBezTo>
                <a:cubicBezTo>
                  <a:pt x="597599" y="1438878"/>
                  <a:pt x="618215" y="1432183"/>
                  <a:pt x="638993" y="1429605"/>
                </a:cubicBezTo>
                <a:close/>
                <a:moveTo>
                  <a:pt x="1252193" y="835524"/>
                </a:moveTo>
                <a:cubicBezTo>
                  <a:pt x="1356532" y="842898"/>
                  <a:pt x="1455464" y="900282"/>
                  <a:pt x="1511699" y="997686"/>
                </a:cubicBezTo>
                <a:cubicBezTo>
                  <a:pt x="1601677" y="1153532"/>
                  <a:pt x="1548280" y="1352810"/>
                  <a:pt x="1392436" y="1442788"/>
                </a:cubicBezTo>
                <a:cubicBezTo>
                  <a:pt x="1236589" y="1532766"/>
                  <a:pt x="1037311" y="1479369"/>
                  <a:pt x="947333" y="1323523"/>
                </a:cubicBezTo>
                <a:cubicBezTo>
                  <a:pt x="857356" y="1167678"/>
                  <a:pt x="910753" y="968399"/>
                  <a:pt x="1066598" y="878421"/>
                </a:cubicBezTo>
                <a:cubicBezTo>
                  <a:pt x="1125040" y="844680"/>
                  <a:pt x="1189590" y="831101"/>
                  <a:pt x="1252193" y="835524"/>
                </a:cubicBezTo>
                <a:close/>
                <a:moveTo>
                  <a:pt x="2832322" y="0"/>
                </a:moveTo>
                <a:lnTo>
                  <a:pt x="2832322" y="2697833"/>
                </a:lnTo>
                <a:lnTo>
                  <a:pt x="0" y="2697833"/>
                </a:lnTo>
                <a:lnTo>
                  <a:pt x="12966" y="2631781"/>
                </a:lnTo>
                <a:cubicBezTo>
                  <a:pt x="140000" y="2184738"/>
                  <a:pt x="505773" y="1908362"/>
                  <a:pt x="1052443" y="1806313"/>
                </a:cubicBezTo>
                <a:cubicBezTo>
                  <a:pt x="1303109" y="1759472"/>
                  <a:pt x="1574698" y="1718763"/>
                  <a:pt x="1721430" y="1489397"/>
                </a:cubicBezTo>
                <a:cubicBezTo>
                  <a:pt x="1879597" y="1241842"/>
                  <a:pt x="2005704" y="970478"/>
                  <a:pt x="2115839" y="696540"/>
                </a:cubicBezTo>
                <a:cubicBezTo>
                  <a:pt x="2216937" y="444582"/>
                  <a:pt x="2354076" y="231931"/>
                  <a:pt x="2590689" y="99461"/>
                </a:cubicBezTo>
                <a:cubicBezTo>
                  <a:pt x="2637069" y="73498"/>
                  <a:pt x="2683655" y="51402"/>
                  <a:pt x="2730434" y="3284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49D49A2-3DAB-32B4-6A18-7D1EDBCB5B95}"/>
              </a:ext>
            </a:extLst>
          </p:cNvPr>
          <p:cNvSpPr>
            <a:spLocks noGrp="1"/>
          </p:cNvSpPr>
          <p:nvPr>
            <p:ph type="title"/>
          </p:nvPr>
        </p:nvSpPr>
        <p:spPr>
          <a:xfrm>
            <a:off x="609600" y="663960"/>
            <a:ext cx="4534894" cy="3310164"/>
          </a:xfrm>
        </p:spPr>
        <p:txBody>
          <a:bodyPr vert="horz" lIns="91440" tIns="45720" rIns="91440" bIns="45720" rtlCol="0" anchor="t">
            <a:normAutofit/>
          </a:bodyPr>
          <a:lstStyle/>
          <a:p>
            <a:r>
              <a:rPr lang="en-US"/>
              <a:t>Cluster Architecture Design</a:t>
            </a:r>
          </a:p>
        </p:txBody>
      </p:sp>
      <p:pic>
        <p:nvPicPr>
          <p:cNvPr id="4" name="Content Placeholder 3">
            <a:extLst>
              <a:ext uri="{FF2B5EF4-FFF2-40B4-BE49-F238E27FC236}">
                <a16:creationId xmlns:a16="http://schemas.microsoft.com/office/drawing/2014/main" id="{F5379FE3-9137-C576-1300-D16A820C537E}"/>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4512651" y="663960"/>
            <a:ext cx="6683732" cy="5968885"/>
          </a:xfrm>
          <a:prstGeom prst="rect">
            <a:avLst/>
          </a:prstGeom>
        </p:spPr>
      </p:pic>
    </p:spTree>
    <p:extLst>
      <p:ext uri="{BB962C8B-B14F-4D97-AF65-F5344CB8AC3E}">
        <p14:creationId xmlns:p14="http://schemas.microsoft.com/office/powerpoint/2010/main" val="2583515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4"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0CF52A5B-5810-4130-A3DB-FD2582D053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Freeform: Shape 37">
            <a:extLst>
              <a:ext uri="{FF2B5EF4-FFF2-40B4-BE49-F238E27FC236}">
                <a16:creationId xmlns:a16="http://schemas.microsoft.com/office/drawing/2014/main" id="{B77B4CB6-64B7-4C1D-B623-F1EC02FCC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937866"/>
          </a:xfrm>
          <a:custGeom>
            <a:avLst/>
            <a:gdLst>
              <a:gd name="connsiteX0" fmla="*/ 8930642 w 12192000"/>
              <a:gd name="connsiteY0" fmla="*/ 5494299 h 5937866"/>
              <a:gd name="connsiteX1" fmla="*/ 9143134 w 12192000"/>
              <a:gd name="connsiteY1" fmla="*/ 5616927 h 5937866"/>
              <a:gd name="connsiteX2" fmla="*/ 9043549 w 12192000"/>
              <a:gd name="connsiteY2" fmla="*/ 5914543 h 5937866"/>
              <a:gd name="connsiteX3" fmla="*/ 8745984 w 12192000"/>
              <a:gd name="connsiteY3" fmla="*/ 5814814 h 5937866"/>
              <a:gd name="connsiteX4" fmla="*/ 8845568 w 12192000"/>
              <a:gd name="connsiteY4" fmla="*/ 5517199 h 5937866"/>
              <a:gd name="connsiteX5" fmla="*/ 8930642 w 12192000"/>
              <a:gd name="connsiteY5" fmla="*/ 5494299 h 5937866"/>
              <a:gd name="connsiteX6" fmla="*/ 9842642 w 12192000"/>
              <a:gd name="connsiteY6" fmla="*/ 4939308 h 5937866"/>
              <a:gd name="connsiteX7" fmla="*/ 10272210 w 12192000"/>
              <a:gd name="connsiteY7" fmla="*/ 5187210 h 5937866"/>
              <a:gd name="connsiteX8" fmla="*/ 10070896 w 12192000"/>
              <a:gd name="connsiteY8" fmla="*/ 5788857 h 5937866"/>
              <a:gd name="connsiteX9" fmla="*/ 9469346 w 12192000"/>
              <a:gd name="connsiteY9" fmla="*/ 5587251 h 5937866"/>
              <a:gd name="connsiteX10" fmla="*/ 9670660 w 12192000"/>
              <a:gd name="connsiteY10" fmla="*/ 4985603 h 5937866"/>
              <a:gd name="connsiteX11" fmla="*/ 9842642 w 12192000"/>
              <a:gd name="connsiteY11" fmla="*/ 4939308 h 5937866"/>
              <a:gd name="connsiteX12" fmla="*/ 0 w 12192000"/>
              <a:gd name="connsiteY12" fmla="*/ 0 h 5937866"/>
              <a:gd name="connsiteX13" fmla="*/ 12188952 w 12192000"/>
              <a:gd name="connsiteY13" fmla="*/ 0 h 5937866"/>
              <a:gd name="connsiteX14" fmla="*/ 12188952 w 12192000"/>
              <a:gd name="connsiteY14" fmla="*/ 1220565 h 5937866"/>
              <a:gd name="connsiteX15" fmla="*/ 12192000 w 12192000"/>
              <a:gd name="connsiteY15" fmla="*/ 1220565 h 5937866"/>
              <a:gd name="connsiteX16" fmla="*/ 12192000 w 12192000"/>
              <a:gd name="connsiteY16" fmla="*/ 4590456 h 5937866"/>
              <a:gd name="connsiteX17" fmla="*/ 12124015 w 12192000"/>
              <a:gd name="connsiteY17" fmla="*/ 4631278 h 5937866"/>
              <a:gd name="connsiteX18" fmla="*/ 11077457 w 12192000"/>
              <a:gd name="connsiteY18" fmla="*/ 4722290 h 5937866"/>
              <a:gd name="connsiteX19" fmla="*/ 9867246 w 12192000"/>
              <a:gd name="connsiteY19" fmla="*/ 4572157 h 5937866"/>
              <a:gd name="connsiteX20" fmla="*/ 8994802 w 12192000"/>
              <a:gd name="connsiteY20" fmla="*/ 5098943 h 5937866"/>
              <a:gd name="connsiteX21" fmla="*/ 6994655 w 12192000"/>
              <a:gd name="connsiteY21" fmla="*/ 5556202 h 5937866"/>
              <a:gd name="connsiteX22" fmla="*/ 6287534 w 12192000"/>
              <a:gd name="connsiteY22" fmla="*/ 4934764 h 5937866"/>
              <a:gd name="connsiteX23" fmla="*/ 4392596 w 12192000"/>
              <a:gd name="connsiteY23" fmla="*/ 4612909 h 5937866"/>
              <a:gd name="connsiteX24" fmla="*/ 3014500 w 12192000"/>
              <a:gd name="connsiteY24" fmla="*/ 5320787 h 5937866"/>
              <a:gd name="connsiteX25" fmla="*/ 86414 w 12192000"/>
              <a:gd name="connsiteY25" fmla="*/ 5123870 h 5937866"/>
              <a:gd name="connsiteX26" fmla="*/ 0 w 12192000"/>
              <a:gd name="connsiteY26" fmla="*/ 5061131 h 5937866"/>
              <a:gd name="connsiteX27" fmla="*/ 0 w 12192000"/>
              <a:gd name="connsiteY27" fmla="*/ 3267075 h 5937866"/>
              <a:gd name="connsiteX28" fmla="*/ 0 w 12192000"/>
              <a:gd name="connsiteY28" fmla="*/ 1220565 h 593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192000" h="5937866">
                <a:moveTo>
                  <a:pt x="8930642" y="5494299"/>
                </a:moveTo>
                <a:cubicBezTo>
                  <a:pt x="9016941" y="5488946"/>
                  <a:pt x="9102130" y="5534635"/>
                  <a:pt x="9143134" y="5616927"/>
                </a:cubicBezTo>
                <a:cubicBezTo>
                  <a:pt x="9197806" y="5726652"/>
                  <a:pt x="9153221" y="5859898"/>
                  <a:pt x="9043549" y="5914543"/>
                </a:cubicBezTo>
                <a:cubicBezTo>
                  <a:pt x="8933879" y="5969187"/>
                  <a:pt x="8800655" y="5924538"/>
                  <a:pt x="8745984" y="5814814"/>
                </a:cubicBezTo>
                <a:cubicBezTo>
                  <a:pt x="8691311" y="5705090"/>
                  <a:pt x="8735897" y="5571844"/>
                  <a:pt x="8845568" y="5517199"/>
                </a:cubicBezTo>
                <a:cubicBezTo>
                  <a:pt x="8872986" y="5503538"/>
                  <a:pt x="8901875" y="5496082"/>
                  <a:pt x="8930642" y="5494299"/>
                </a:cubicBezTo>
                <a:close/>
                <a:moveTo>
                  <a:pt x="9842642" y="4939308"/>
                </a:moveTo>
                <a:cubicBezTo>
                  <a:pt x="10017101" y="4928488"/>
                  <a:pt x="10189318" y="5020851"/>
                  <a:pt x="10272210" y="5187210"/>
                </a:cubicBezTo>
                <a:cubicBezTo>
                  <a:pt x="10382732" y="5409023"/>
                  <a:pt x="10292600" y="5678390"/>
                  <a:pt x="10070896" y="5788857"/>
                </a:cubicBezTo>
                <a:cubicBezTo>
                  <a:pt x="9849191" y="5899325"/>
                  <a:pt x="9579867" y="5809063"/>
                  <a:pt x="9469346" y="5587251"/>
                </a:cubicBezTo>
                <a:cubicBezTo>
                  <a:pt x="9358824" y="5365438"/>
                  <a:pt x="9448956" y="5096071"/>
                  <a:pt x="9670660" y="4985603"/>
                </a:cubicBezTo>
                <a:cubicBezTo>
                  <a:pt x="9726087" y="4957986"/>
                  <a:pt x="9784490" y="4942914"/>
                  <a:pt x="9842642" y="4939308"/>
                </a:cubicBezTo>
                <a:close/>
                <a:moveTo>
                  <a:pt x="0" y="0"/>
                </a:moveTo>
                <a:lnTo>
                  <a:pt x="12188952" y="0"/>
                </a:lnTo>
                <a:lnTo>
                  <a:pt x="12188952" y="1220565"/>
                </a:lnTo>
                <a:lnTo>
                  <a:pt x="12192000" y="1220565"/>
                </a:lnTo>
                <a:lnTo>
                  <a:pt x="12192000" y="4590456"/>
                </a:lnTo>
                <a:lnTo>
                  <a:pt x="12124015" y="4631278"/>
                </a:lnTo>
                <a:cubicBezTo>
                  <a:pt x="11792041" y="4802103"/>
                  <a:pt x="11443617" y="4797817"/>
                  <a:pt x="11077457" y="4722290"/>
                </a:cubicBezTo>
                <a:cubicBezTo>
                  <a:pt x="10679189" y="4640425"/>
                  <a:pt x="10271734" y="4578846"/>
                  <a:pt x="9867246" y="4572157"/>
                </a:cubicBezTo>
                <a:cubicBezTo>
                  <a:pt x="9492336" y="4566176"/>
                  <a:pt x="9239136" y="4846894"/>
                  <a:pt x="8994802" y="5098943"/>
                </a:cubicBezTo>
                <a:cubicBezTo>
                  <a:pt x="8385954" y="5727243"/>
                  <a:pt x="7695268" y="5911307"/>
                  <a:pt x="6994655" y="5556202"/>
                </a:cubicBezTo>
                <a:cubicBezTo>
                  <a:pt x="6722938" y="5418487"/>
                  <a:pt x="6494843" y="5169191"/>
                  <a:pt x="6287534" y="4934764"/>
                </a:cubicBezTo>
                <a:cubicBezTo>
                  <a:pt x="5731733" y="4306056"/>
                  <a:pt x="5043559" y="4288064"/>
                  <a:pt x="4392596" y="4612909"/>
                </a:cubicBezTo>
                <a:cubicBezTo>
                  <a:pt x="3930423" y="4844432"/>
                  <a:pt x="3492022" y="5129169"/>
                  <a:pt x="3014500" y="5320787"/>
                </a:cubicBezTo>
                <a:cubicBezTo>
                  <a:pt x="1977820" y="5738974"/>
                  <a:pt x="973242" y="5720051"/>
                  <a:pt x="86414" y="5123870"/>
                </a:cubicBezTo>
                <a:lnTo>
                  <a:pt x="0" y="5061131"/>
                </a:lnTo>
                <a:lnTo>
                  <a:pt x="0" y="3267075"/>
                </a:lnTo>
                <a:lnTo>
                  <a:pt x="0" y="12205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48FEEAC-5D41-AE4D-2458-93911B4C8406}"/>
              </a:ext>
            </a:extLst>
          </p:cNvPr>
          <p:cNvSpPr>
            <a:spLocks noGrp="1"/>
          </p:cNvSpPr>
          <p:nvPr>
            <p:ph type="title"/>
          </p:nvPr>
        </p:nvSpPr>
        <p:spPr>
          <a:xfrm>
            <a:off x="609600" y="557784"/>
            <a:ext cx="10972800" cy="1325563"/>
          </a:xfrm>
        </p:spPr>
        <p:txBody>
          <a:bodyPr>
            <a:normAutofit/>
          </a:bodyPr>
          <a:lstStyle/>
          <a:p>
            <a:pPr>
              <a:lnSpc>
                <a:spcPct val="90000"/>
              </a:lnSpc>
            </a:pPr>
            <a:r>
              <a:rPr lang="en-US">
                <a:latin typeface="Avenir Next LT Pro"/>
              </a:rPr>
              <a:t>Benefits of Running OpenShift on OCI Key benefits</a:t>
            </a:r>
            <a:endParaRPr lang="en-US"/>
          </a:p>
        </p:txBody>
      </p:sp>
      <p:sp>
        <p:nvSpPr>
          <p:cNvPr id="3" name="Content Placeholder 2">
            <a:extLst>
              <a:ext uri="{FF2B5EF4-FFF2-40B4-BE49-F238E27FC236}">
                <a16:creationId xmlns:a16="http://schemas.microsoft.com/office/drawing/2014/main" id="{43113E00-3306-A65F-D533-AF0688C6F6FA}"/>
              </a:ext>
            </a:extLst>
          </p:cNvPr>
          <p:cNvSpPr>
            <a:spLocks noGrp="1"/>
          </p:cNvSpPr>
          <p:nvPr>
            <p:ph idx="1"/>
          </p:nvPr>
        </p:nvSpPr>
        <p:spPr>
          <a:xfrm>
            <a:off x="609600" y="2106204"/>
            <a:ext cx="11099986" cy="4348571"/>
          </a:xfrm>
        </p:spPr>
        <p:txBody>
          <a:bodyPr vert="horz" lIns="91440" tIns="45720" rIns="91440" bIns="45720" rtlCol="0" anchor="t">
            <a:noAutofit/>
          </a:bodyPr>
          <a:lstStyle/>
          <a:p>
            <a:pPr marL="285750" indent="-285750">
              <a:lnSpc>
                <a:spcPct val="100000"/>
              </a:lnSpc>
              <a:buFont typeface="Arial" panose="020B0504020202020204" pitchFamily="34" charset="0"/>
              <a:buChar char="•"/>
            </a:pPr>
            <a:r>
              <a:rPr lang="en-US" b="1">
                <a:ea typeface="+mn-lt"/>
                <a:cs typeface="+mn-lt"/>
              </a:rPr>
              <a:t>Automation </a:t>
            </a:r>
            <a:r>
              <a:rPr lang="en-US">
                <a:ea typeface="+mn-lt"/>
                <a:cs typeface="+mn-lt"/>
              </a:rPr>
              <a:t>- Automated provisioning of the OpenShift infrastructure in OCI using Resource Manager stack.</a:t>
            </a:r>
            <a:endParaRPr lang="en-US"/>
          </a:p>
          <a:p>
            <a:pPr marL="285750" indent="-285750">
              <a:lnSpc>
                <a:spcPct val="100000"/>
              </a:lnSpc>
              <a:buFont typeface="Arial" panose="020B0504020202020204" pitchFamily="34" charset="0"/>
              <a:buChar char="•"/>
            </a:pPr>
            <a:r>
              <a:rPr lang="en-US" b="1">
                <a:ea typeface="+mn-lt"/>
                <a:cs typeface="+mn-lt"/>
              </a:rPr>
              <a:t>Platform Integration</a:t>
            </a:r>
            <a:r>
              <a:rPr lang="en-US">
                <a:ea typeface="+mn-lt"/>
                <a:cs typeface="+mn-lt"/>
              </a:rPr>
              <a:t> - Can leverage core OCI services with OpenShift containers. For example, OCI FSS and Object Storage.</a:t>
            </a:r>
            <a:endParaRPr lang="en-US"/>
          </a:p>
          <a:p>
            <a:pPr marL="285750" indent="-285750">
              <a:lnSpc>
                <a:spcPct val="100000"/>
              </a:lnSpc>
              <a:buFont typeface="Arial" panose="020B0504020202020204" pitchFamily="34" charset="0"/>
              <a:buChar char="•"/>
            </a:pPr>
            <a:r>
              <a:rPr lang="en-US" b="1">
                <a:ea typeface="+mn-lt"/>
                <a:cs typeface="+mn-lt"/>
              </a:rPr>
              <a:t>Storage</a:t>
            </a:r>
            <a:r>
              <a:rPr lang="en-US">
                <a:ea typeface="+mn-lt"/>
                <a:cs typeface="+mn-lt"/>
              </a:rPr>
              <a:t> - Container Storage Interface (CSI) plugin for OCI Block Storage - Container Storage Interface (CSI) integration with the OCI File Storage.</a:t>
            </a:r>
            <a:endParaRPr lang="en-US"/>
          </a:p>
          <a:p>
            <a:pPr marL="285750" indent="-285750">
              <a:lnSpc>
                <a:spcPct val="100000"/>
              </a:lnSpc>
              <a:buFont typeface="Arial" panose="020B0504020202020204" pitchFamily="34" charset="0"/>
              <a:buChar char="•"/>
            </a:pPr>
            <a:r>
              <a:rPr lang="en-US" b="1">
                <a:ea typeface="+mn-lt"/>
                <a:cs typeface="+mn-lt"/>
              </a:rPr>
              <a:t>Elasticity </a:t>
            </a:r>
            <a:r>
              <a:rPr lang="en-US">
                <a:ea typeface="+mn-lt"/>
                <a:cs typeface="+mn-lt"/>
              </a:rPr>
              <a:t>- Autoscaling to maintain the number of control nodes and master nodes. Instance Pool and Instance Configuration.</a:t>
            </a:r>
            <a:endParaRPr lang="en-US"/>
          </a:p>
          <a:p>
            <a:pPr marL="285750" indent="-285750">
              <a:lnSpc>
                <a:spcPct val="100000"/>
              </a:lnSpc>
              <a:buFont typeface="Arial" panose="020B0504020202020204" pitchFamily="34" charset="0"/>
              <a:buChar char="•"/>
            </a:pPr>
            <a:r>
              <a:rPr lang="en-US" b="1">
                <a:ea typeface="+mn-lt"/>
                <a:cs typeface="+mn-lt"/>
              </a:rPr>
              <a:t>Performance</a:t>
            </a:r>
            <a:r>
              <a:rPr lang="en-US">
                <a:ea typeface="+mn-lt"/>
                <a:cs typeface="+mn-lt"/>
              </a:rPr>
              <a:t> - Best possible network performance by leveraging the Gen-2 OCI off-box virtualization.  - OCI Block Storage with Virtual Performance Unit (VPU). Flexible performance 120 VPU.</a:t>
            </a:r>
            <a:endParaRPr lang="en-US"/>
          </a:p>
          <a:p>
            <a:pPr>
              <a:lnSpc>
                <a:spcPct val="100000"/>
              </a:lnSpc>
            </a:pPr>
            <a:endParaRPr lang="en-US" sz="1000"/>
          </a:p>
        </p:txBody>
      </p:sp>
    </p:spTree>
    <p:extLst>
      <p:ext uri="{BB962C8B-B14F-4D97-AF65-F5344CB8AC3E}">
        <p14:creationId xmlns:p14="http://schemas.microsoft.com/office/powerpoint/2010/main" val="1026857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42E603F-28B7-4831-BF23-65FBAB13D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4D39700F-2B10-4402-A7DD-06EE22458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32968"/>
            <a:ext cx="9560477" cy="6625032"/>
          </a:xfrm>
          <a:custGeom>
            <a:avLst/>
            <a:gdLst>
              <a:gd name="connsiteX0" fmla="*/ 8831314 w 9263816"/>
              <a:gd name="connsiteY0" fmla="*/ 5943878 h 6858000"/>
              <a:gd name="connsiteX1" fmla="*/ 9179783 w 9263816"/>
              <a:gd name="connsiteY1" fmla="*/ 6086141 h 6858000"/>
              <a:gd name="connsiteX2" fmla="*/ 9260887 w 9263816"/>
              <a:gd name="connsiteY2" fmla="*/ 6279156 h 6858000"/>
              <a:gd name="connsiteX3" fmla="*/ 8925621 w 9263816"/>
              <a:gd name="connsiteY3" fmla="*/ 6708712 h 6858000"/>
              <a:gd name="connsiteX4" fmla="*/ 8496050 w 9263816"/>
              <a:gd name="connsiteY4" fmla="*/ 6373449 h 6858000"/>
              <a:gd name="connsiteX5" fmla="*/ 8831314 w 9263816"/>
              <a:gd name="connsiteY5" fmla="*/ 5943878 h 6858000"/>
              <a:gd name="connsiteX6" fmla="*/ 7397485 w 9263816"/>
              <a:gd name="connsiteY6" fmla="*/ 5931706 h 6858000"/>
              <a:gd name="connsiteX7" fmla="*/ 7917779 w 9263816"/>
              <a:gd name="connsiteY7" fmla="*/ 6191864 h 6858000"/>
              <a:gd name="connsiteX8" fmla="*/ 8013467 w 9263816"/>
              <a:gd name="connsiteY8" fmla="*/ 6375784 h 6858000"/>
              <a:gd name="connsiteX9" fmla="*/ 8021879 w 9263816"/>
              <a:gd name="connsiteY9" fmla="*/ 6753751 h 6858000"/>
              <a:gd name="connsiteX10" fmla="*/ 7981316 w 9263816"/>
              <a:gd name="connsiteY10" fmla="*/ 6858000 h 6858000"/>
              <a:gd name="connsiteX11" fmla="*/ 6819486 w 9263816"/>
              <a:gd name="connsiteY11" fmla="*/ 6858000 h 6858000"/>
              <a:gd name="connsiteX12" fmla="*/ 6785199 w 9263816"/>
              <a:gd name="connsiteY12" fmla="*/ 6781101 h 6858000"/>
              <a:gd name="connsiteX13" fmla="*/ 7196747 w 9263816"/>
              <a:gd name="connsiteY13" fmla="*/ 5964309 h 6858000"/>
              <a:gd name="connsiteX14" fmla="*/ 7397485 w 9263816"/>
              <a:gd name="connsiteY14" fmla="*/ 5931706 h 6858000"/>
              <a:gd name="connsiteX15" fmla="*/ 1505570 w 9263816"/>
              <a:gd name="connsiteY15" fmla="*/ 227178 h 6858000"/>
              <a:gd name="connsiteX16" fmla="*/ 2026489 w 9263816"/>
              <a:gd name="connsiteY16" fmla="*/ 392370 h 6858000"/>
              <a:gd name="connsiteX17" fmla="*/ 2444553 w 9263816"/>
              <a:gd name="connsiteY17" fmla="*/ 1654853 h 6858000"/>
              <a:gd name="connsiteX18" fmla="*/ 3183153 w 9263816"/>
              <a:gd name="connsiteY18" fmla="*/ 2116208 h 6858000"/>
              <a:gd name="connsiteX19" fmla="*/ 4288384 w 9263816"/>
              <a:gd name="connsiteY19" fmla="*/ 1291908 h 6858000"/>
              <a:gd name="connsiteX20" fmla="*/ 5472602 w 9263816"/>
              <a:gd name="connsiteY20" fmla="*/ 1697818 h 6858000"/>
              <a:gd name="connsiteX21" fmla="*/ 5844697 w 9263816"/>
              <a:gd name="connsiteY21" fmla="*/ 3444791 h 6858000"/>
              <a:gd name="connsiteX22" fmla="*/ 6715674 w 9263816"/>
              <a:gd name="connsiteY22" fmla="*/ 4065208 h 6858000"/>
              <a:gd name="connsiteX23" fmla="*/ 8130429 w 9263816"/>
              <a:gd name="connsiteY23" fmla="*/ 4101787 h 6858000"/>
              <a:gd name="connsiteX24" fmla="*/ 8624630 w 9263816"/>
              <a:gd name="connsiteY24" fmla="*/ 4686202 h 6858000"/>
              <a:gd name="connsiteX25" fmla="*/ 8623843 w 9263816"/>
              <a:gd name="connsiteY25" fmla="*/ 4685749 h 6858000"/>
              <a:gd name="connsiteX26" fmla="*/ 8646859 w 9263816"/>
              <a:gd name="connsiteY26" fmla="*/ 4835156 h 6858000"/>
              <a:gd name="connsiteX27" fmla="*/ 8079403 w 9263816"/>
              <a:gd name="connsiteY27" fmla="*/ 5661624 h 6858000"/>
              <a:gd name="connsiteX28" fmla="*/ 6833105 w 9263816"/>
              <a:gd name="connsiteY28" fmla="*/ 5397208 h 6858000"/>
              <a:gd name="connsiteX29" fmla="*/ 5900832 w 9263816"/>
              <a:gd name="connsiteY29" fmla="*/ 5944462 h 6858000"/>
              <a:gd name="connsiteX30" fmla="*/ 6067212 w 9263816"/>
              <a:gd name="connsiteY30" fmla="*/ 6811916 h 6858000"/>
              <a:gd name="connsiteX31" fmla="*/ 6089565 w 9263816"/>
              <a:gd name="connsiteY31" fmla="*/ 6858000 h 6858000"/>
              <a:gd name="connsiteX32" fmla="*/ 0 w 9263816"/>
              <a:gd name="connsiteY32" fmla="*/ 6858000 h 6858000"/>
              <a:gd name="connsiteX33" fmla="*/ 0 w 9263816"/>
              <a:gd name="connsiteY33" fmla="*/ 2181377 h 6858000"/>
              <a:gd name="connsiteX34" fmla="*/ 73069 w 9263816"/>
              <a:gd name="connsiteY34" fmla="*/ 2215839 h 6858000"/>
              <a:gd name="connsiteX35" fmla="*/ 335445 w 9263816"/>
              <a:gd name="connsiteY35" fmla="*/ 2237140 h 6858000"/>
              <a:gd name="connsiteX36" fmla="*/ 752878 w 9263816"/>
              <a:gd name="connsiteY36" fmla="*/ 1445285 h 6858000"/>
              <a:gd name="connsiteX37" fmla="*/ 1202551 w 9263816"/>
              <a:gd name="connsiteY37" fmla="*/ 314229 h 6858000"/>
              <a:gd name="connsiteX38" fmla="*/ 1505570 w 9263816"/>
              <a:gd name="connsiteY38" fmla="*/ 227178 h 6858000"/>
              <a:gd name="connsiteX39" fmla="*/ 3142509 w 9263816"/>
              <a:gd name="connsiteY39" fmla="*/ 68854 h 6858000"/>
              <a:gd name="connsiteX40" fmla="*/ 3490978 w 9263816"/>
              <a:gd name="connsiteY40" fmla="*/ 211117 h 6858000"/>
              <a:gd name="connsiteX41" fmla="*/ 3572083 w 9263816"/>
              <a:gd name="connsiteY41" fmla="*/ 404131 h 6858000"/>
              <a:gd name="connsiteX42" fmla="*/ 3236814 w 9263816"/>
              <a:gd name="connsiteY42" fmla="*/ 833688 h 6858000"/>
              <a:gd name="connsiteX43" fmla="*/ 2807245 w 9263816"/>
              <a:gd name="connsiteY43" fmla="*/ 498425 h 6858000"/>
              <a:gd name="connsiteX44" fmla="*/ 3142509 w 9263816"/>
              <a:gd name="connsiteY44" fmla="*/ 68854 h 6858000"/>
              <a:gd name="connsiteX45" fmla="*/ 0 w 9263816"/>
              <a:gd name="connsiteY45" fmla="*/ 0 h 6858000"/>
              <a:gd name="connsiteX46" fmla="*/ 39858 w 9263816"/>
              <a:gd name="connsiteY46" fmla="*/ 0 h 6858000"/>
              <a:gd name="connsiteX47" fmla="*/ 65022 w 9263816"/>
              <a:gd name="connsiteY47" fmla="*/ 5834 h 6858000"/>
              <a:gd name="connsiteX48" fmla="*/ 389258 w 9263816"/>
              <a:gd name="connsiteY48" fmla="*/ 235630 h 6858000"/>
              <a:gd name="connsiteX49" fmla="*/ 485484 w 9263816"/>
              <a:gd name="connsiteY49" fmla="*/ 420070 h 6858000"/>
              <a:gd name="connsiteX50" fmla="*/ 74229 w 9263816"/>
              <a:gd name="connsiteY50" fmla="*/ 1237955 h 6858000"/>
              <a:gd name="connsiteX51" fmla="*/ 0 w 9263816"/>
              <a:gd name="connsiteY51" fmla="*/ 12544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263816" h="6858000">
                <a:moveTo>
                  <a:pt x="8831314" y="5943878"/>
                </a:moveTo>
                <a:cubicBezTo>
                  <a:pt x="8964281" y="5927490"/>
                  <a:pt x="9096260" y="5981362"/>
                  <a:pt x="9179783" y="6086141"/>
                </a:cubicBezTo>
                <a:cubicBezTo>
                  <a:pt x="9224074" y="6141769"/>
                  <a:pt x="9252211" y="6208560"/>
                  <a:pt x="9260887" y="6279156"/>
                </a:cubicBezTo>
                <a:cubicBezTo>
                  <a:pt x="9286897" y="6490362"/>
                  <a:pt x="9136845" y="6682672"/>
                  <a:pt x="8925621" y="6708712"/>
                </a:cubicBezTo>
                <a:cubicBezTo>
                  <a:pt x="8714398" y="6734766"/>
                  <a:pt x="8522062" y="6584655"/>
                  <a:pt x="8496050" y="6373449"/>
                </a:cubicBezTo>
                <a:cubicBezTo>
                  <a:pt x="8470038" y="6162229"/>
                  <a:pt x="8620090" y="5969920"/>
                  <a:pt x="8831314" y="5943878"/>
                </a:cubicBezTo>
                <a:close/>
                <a:moveTo>
                  <a:pt x="7397485" y="5931706"/>
                </a:moveTo>
                <a:cubicBezTo>
                  <a:pt x="7598431" y="5931157"/>
                  <a:pt x="7792965" y="6024548"/>
                  <a:pt x="7917779" y="6191864"/>
                </a:cubicBezTo>
                <a:cubicBezTo>
                  <a:pt x="7959204" y="6247714"/>
                  <a:pt x="7991530" y="6309792"/>
                  <a:pt x="8013467" y="6375784"/>
                </a:cubicBezTo>
                <a:cubicBezTo>
                  <a:pt x="8055425" y="6502973"/>
                  <a:pt x="8055748" y="6633888"/>
                  <a:pt x="8021879" y="6753751"/>
                </a:cubicBezTo>
                <a:lnTo>
                  <a:pt x="7981316" y="6858000"/>
                </a:lnTo>
                <a:lnTo>
                  <a:pt x="6819486" y="6858000"/>
                </a:lnTo>
                <a:lnTo>
                  <a:pt x="6785199" y="6781101"/>
                </a:lnTo>
                <a:cubicBezTo>
                  <a:pt x="6673307" y="6441922"/>
                  <a:pt x="6857485" y="6076251"/>
                  <a:pt x="7196747" y="5964309"/>
                </a:cubicBezTo>
                <a:cubicBezTo>
                  <a:pt x="7262809" y="5942509"/>
                  <a:pt x="7330503" y="5931889"/>
                  <a:pt x="7397485" y="5931706"/>
                </a:cubicBezTo>
                <a:close/>
                <a:moveTo>
                  <a:pt x="1505570" y="227178"/>
                </a:moveTo>
                <a:cubicBezTo>
                  <a:pt x="1691018" y="218628"/>
                  <a:pt x="1889853" y="275403"/>
                  <a:pt x="2026489" y="392370"/>
                </a:cubicBezTo>
                <a:cubicBezTo>
                  <a:pt x="2369898" y="685965"/>
                  <a:pt x="2078266" y="1147857"/>
                  <a:pt x="2444553" y="1654853"/>
                </a:cubicBezTo>
                <a:cubicBezTo>
                  <a:pt x="2492906" y="1721679"/>
                  <a:pt x="2800482" y="2144546"/>
                  <a:pt x="3183153" y="2116208"/>
                </a:cubicBezTo>
                <a:cubicBezTo>
                  <a:pt x="3673561" y="2080541"/>
                  <a:pt x="3723222" y="1441614"/>
                  <a:pt x="4288384" y="1291908"/>
                </a:cubicBezTo>
                <a:cubicBezTo>
                  <a:pt x="4689065" y="1185875"/>
                  <a:pt x="5207943" y="1366633"/>
                  <a:pt x="5472602" y="1697818"/>
                </a:cubicBezTo>
                <a:cubicBezTo>
                  <a:pt x="5891294" y="2221754"/>
                  <a:pt x="5408012" y="2790179"/>
                  <a:pt x="5844697" y="3444791"/>
                </a:cubicBezTo>
                <a:cubicBezTo>
                  <a:pt x="6149900" y="3902467"/>
                  <a:pt x="6672672" y="4053594"/>
                  <a:pt x="6715674" y="4065208"/>
                </a:cubicBezTo>
                <a:cubicBezTo>
                  <a:pt x="7326423" y="4232519"/>
                  <a:pt x="7677158" y="3817020"/>
                  <a:pt x="8130429" y="4101787"/>
                </a:cubicBezTo>
                <a:cubicBezTo>
                  <a:pt x="8226340" y="4161985"/>
                  <a:pt x="8536372" y="4356819"/>
                  <a:pt x="8624630" y="4686202"/>
                </a:cubicBezTo>
                <a:lnTo>
                  <a:pt x="8623843" y="4685749"/>
                </a:lnTo>
                <a:cubicBezTo>
                  <a:pt x="8636924" y="4734567"/>
                  <a:pt x="8644635" y="4784678"/>
                  <a:pt x="8646859" y="4835156"/>
                </a:cubicBezTo>
                <a:cubicBezTo>
                  <a:pt x="8662596" y="5196604"/>
                  <a:pt x="8398383" y="5562326"/>
                  <a:pt x="8079403" y="5661624"/>
                </a:cubicBezTo>
                <a:cubicBezTo>
                  <a:pt x="7649807" y="5795217"/>
                  <a:pt x="7430996" y="5350293"/>
                  <a:pt x="6833105" y="5397208"/>
                </a:cubicBezTo>
                <a:cubicBezTo>
                  <a:pt x="6519033" y="5421527"/>
                  <a:pt x="6056658" y="5595550"/>
                  <a:pt x="5900832" y="5944462"/>
                </a:cubicBezTo>
                <a:cubicBezTo>
                  <a:pt x="5770548" y="6236600"/>
                  <a:pt x="5916359" y="6515160"/>
                  <a:pt x="6067212" y="6811916"/>
                </a:cubicBezTo>
                <a:lnTo>
                  <a:pt x="6089565" y="6858000"/>
                </a:lnTo>
                <a:lnTo>
                  <a:pt x="0" y="6858000"/>
                </a:lnTo>
                <a:lnTo>
                  <a:pt x="0" y="2181377"/>
                </a:lnTo>
                <a:lnTo>
                  <a:pt x="73069" y="2215839"/>
                </a:lnTo>
                <a:cubicBezTo>
                  <a:pt x="165116" y="2251829"/>
                  <a:pt x="254486" y="2263171"/>
                  <a:pt x="335445" y="2237140"/>
                </a:cubicBezTo>
                <a:cubicBezTo>
                  <a:pt x="594718" y="2153707"/>
                  <a:pt x="688441" y="1733807"/>
                  <a:pt x="752878" y="1445285"/>
                </a:cubicBezTo>
                <a:cubicBezTo>
                  <a:pt x="925059" y="674068"/>
                  <a:pt x="975076" y="456292"/>
                  <a:pt x="1202551" y="314229"/>
                </a:cubicBezTo>
                <a:cubicBezTo>
                  <a:pt x="1287853" y="260956"/>
                  <a:pt x="1394302" y="232308"/>
                  <a:pt x="1505570" y="227178"/>
                </a:cubicBezTo>
                <a:close/>
                <a:moveTo>
                  <a:pt x="3142509" y="68854"/>
                </a:moveTo>
                <a:cubicBezTo>
                  <a:pt x="3275474" y="52467"/>
                  <a:pt x="3407455" y="106339"/>
                  <a:pt x="3490978" y="211117"/>
                </a:cubicBezTo>
                <a:cubicBezTo>
                  <a:pt x="3535271" y="266744"/>
                  <a:pt x="3563404" y="333535"/>
                  <a:pt x="3572083" y="404131"/>
                </a:cubicBezTo>
                <a:cubicBezTo>
                  <a:pt x="3598092" y="615337"/>
                  <a:pt x="3448040" y="807648"/>
                  <a:pt x="3236814" y="833688"/>
                </a:cubicBezTo>
                <a:cubicBezTo>
                  <a:pt x="3025594" y="859741"/>
                  <a:pt x="2833255" y="709631"/>
                  <a:pt x="2807245" y="498425"/>
                </a:cubicBezTo>
                <a:cubicBezTo>
                  <a:pt x="2781232" y="287207"/>
                  <a:pt x="2931283" y="94896"/>
                  <a:pt x="3142509" y="68854"/>
                </a:cubicBezTo>
                <a:close/>
                <a:moveTo>
                  <a:pt x="0" y="0"/>
                </a:moveTo>
                <a:lnTo>
                  <a:pt x="39858" y="0"/>
                </a:lnTo>
                <a:lnTo>
                  <a:pt x="65022" y="5834"/>
                </a:lnTo>
                <a:cubicBezTo>
                  <a:pt x="191545" y="45606"/>
                  <a:pt x="305874" y="124173"/>
                  <a:pt x="389258" y="235630"/>
                </a:cubicBezTo>
                <a:cubicBezTo>
                  <a:pt x="430983" y="291600"/>
                  <a:pt x="463360" y="353876"/>
                  <a:pt x="485484" y="420070"/>
                </a:cubicBezTo>
                <a:cubicBezTo>
                  <a:pt x="597711" y="759508"/>
                  <a:pt x="413661" y="1125662"/>
                  <a:pt x="74229" y="1237955"/>
                </a:cubicBezTo>
                <a:lnTo>
                  <a:pt x="0" y="1254477"/>
                </a:lnTo>
                <a:close/>
              </a:path>
            </a:pathLst>
          </a:cu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3" name="Background Fill">
            <a:extLst>
              <a:ext uri="{FF2B5EF4-FFF2-40B4-BE49-F238E27FC236}">
                <a16:creationId xmlns:a16="http://schemas.microsoft.com/office/drawing/2014/main" id="{6DA65B90-7B06-4499-91BA-CDDD361324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C7BC1E0-1C8D-47CB-B48A-D3D0D2EF0E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3AD1C04B-04EF-43BA-B2AB-6F52AF8B94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1"/>
            <a:ext cx="6939937" cy="6453893"/>
          </a:xfrm>
          <a:custGeom>
            <a:avLst/>
            <a:gdLst>
              <a:gd name="connsiteX0" fmla="*/ 111814 w 4695433"/>
              <a:gd name="connsiteY0" fmla="*/ 3049004 h 4582435"/>
              <a:gd name="connsiteX1" fmla="*/ 297409 w 4695433"/>
              <a:gd name="connsiteY1" fmla="*/ 3091902 h 4582435"/>
              <a:gd name="connsiteX2" fmla="*/ 416673 w 4695433"/>
              <a:gd name="connsiteY2" fmla="*/ 3537003 h 4582435"/>
              <a:gd name="connsiteX3" fmla="*/ 31751 w 4695433"/>
              <a:gd name="connsiteY3" fmla="*/ 3683368 h 4582435"/>
              <a:gd name="connsiteX4" fmla="*/ 0 w 4695433"/>
              <a:gd name="connsiteY4" fmla="*/ 3669070 h 4582435"/>
              <a:gd name="connsiteX5" fmla="*/ 0 w 4695433"/>
              <a:gd name="connsiteY5" fmla="*/ 3079852 h 4582435"/>
              <a:gd name="connsiteX6" fmla="*/ 35156 w 4695433"/>
              <a:gd name="connsiteY6" fmla="*/ 3063756 h 4582435"/>
              <a:gd name="connsiteX7" fmla="*/ 111814 w 4695433"/>
              <a:gd name="connsiteY7" fmla="*/ 3049004 h 4582435"/>
              <a:gd name="connsiteX8" fmla="*/ 0 w 4695433"/>
              <a:gd name="connsiteY8" fmla="*/ 0 h 4582435"/>
              <a:gd name="connsiteX9" fmla="*/ 4695433 w 4695433"/>
              <a:gd name="connsiteY9" fmla="*/ 0 h 4582435"/>
              <a:gd name="connsiteX10" fmla="*/ 4663044 w 4695433"/>
              <a:gd name="connsiteY10" fmla="*/ 68762 h 4582435"/>
              <a:gd name="connsiteX11" fmla="*/ 4571319 w 4695433"/>
              <a:gd name="connsiteY11" fmla="*/ 201411 h 4582435"/>
              <a:gd name="connsiteX12" fmla="*/ 4099777 w 4695433"/>
              <a:gd name="connsiteY12" fmla="*/ 504347 h 4582435"/>
              <a:gd name="connsiteX13" fmla="*/ 3811860 w 4695433"/>
              <a:gd name="connsiteY13" fmla="*/ 1682068 h 4582435"/>
              <a:gd name="connsiteX14" fmla="*/ 3167043 w 4695433"/>
              <a:gd name="connsiteY14" fmla="*/ 4278500 h 4582435"/>
              <a:gd name="connsiteX15" fmla="*/ 2640955 w 4695433"/>
              <a:gd name="connsiteY15" fmla="*/ 4485587 h 4582435"/>
              <a:gd name="connsiteX16" fmla="*/ 1495663 w 4695433"/>
              <a:gd name="connsiteY16" fmla="*/ 4435228 h 4582435"/>
              <a:gd name="connsiteX17" fmla="*/ 1020813 w 4695433"/>
              <a:gd name="connsiteY17" fmla="*/ 3838149 h 4582435"/>
              <a:gd name="connsiteX18" fmla="*/ 626404 w 4695433"/>
              <a:gd name="connsiteY18" fmla="*/ 3045292 h 4582435"/>
              <a:gd name="connsiteX19" fmla="*/ 147061 w 4695433"/>
              <a:gd name="connsiteY19" fmla="*/ 2765401 h 4582435"/>
              <a:gd name="connsiteX20" fmla="*/ 0 w 4695433"/>
              <a:gd name="connsiteY20" fmla="*/ 2736690 h 4582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695433" h="4582435">
                <a:moveTo>
                  <a:pt x="111814" y="3049004"/>
                </a:moveTo>
                <a:cubicBezTo>
                  <a:pt x="174417" y="3044581"/>
                  <a:pt x="238967" y="3058160"/>
                  <a:pt x="297409" y="3091902"/>
                </a:cubicBezTo>
                <a:cubicBezTo>
                  <a:pt x="453255" y="3181878"/>
                  <a:pt x="506651" y="3381158"/>
                  <a:pt x="416673" y="3537003"/>
                </a:cubicBezTo>
                <a:cubicBezTo>
                  <a:pt x="337943" y="3673368"/>
                  <a:pt x="175529" y="3731295"/>
                  <a:pt x="31751" y="3683368"/>
                </a:cubicBezTo>
                <a:lnTo>
                  <a:pt x="0" y="3669070"/>
                </a:lnTo>
                <a:lnTo>
                  <a:pt x="0" y="3079852"/>
                </a:lnTo>
                <a:lnTo>
                  <a:pt x="35156" y="3063756"/>
                </a:lnTo>
                <a:cubicBezTo>
                  <a:pt x="59982" y="3055817"/>
                  <a:pt x="85729" y="3050848"/>
                  <a:pt x="111814" y="3049004"/>
                </a:cubicBezTo>
                <a:close/>
                <a:moveTo>
                  <a:pt x="0" y="0"/>
                </a:moveTo>
                <a:lnTo>
                  <a:pt x="4695433" y="0"/>
                </a:lnTo>
                <a:lnTo>
                  <a:pt x="4663044" y="68762"/>
                </a:lnTo>
                <a:cubicBezTo>
                  <a:pt x="4636274" y="118744"/>
                  <a:pt x="4605467" y="163546"/>
                  <a:pt x="4571319" y="201411"/>
                </a:cubicBezTo>
                <a:cubicBezTo>
                  <a:pt x="4449886" y="335755"/>
                  <a:pt x="4268949" y="426743"/>
                  <a:pt x="4099777" y="504347"/>
                </a:cubicBezTo>
                <a:cubicBezTo>
                  <a:pt x="3604896" y="731933"/>
                  <a:pt x="3591784" y="1317548"/>
                  <a:pt x="3811860" y="1682068"/>
                </a:cubicBezTo>
                <a:cubicBezTo>
                  <a:pt x="4454413" y="2741008"/>
                  <a:pt x="4084752" y="3706193"/>
                  <a:pt x="3167043" y="4278500"/>
                </a:cubicBezTo>
                <a:cubicBezTo>
                  <a:pt x="3009772" y="4376529"/>
                  <a:pt x="2817700" y="4417630"/>
                  <a:pt x="2640955" y="4485587"/>
                </a:cubicBezTo>
                <a:cubicBezTo>
                  <a:pt x="2250950" y="4603206"/>
                  <a:pt x="1866703" y="4642930"/>
                  <a:pt x="1495663" y="4435228"/>
                </a:cubicBezTo>
                <a:cubicBezTo>
                  <a:pt x="1259049" y="4302759"/>
                  <a:pt x="1121911" y="4090107"/>
                  <a:pt x="1020813" y="3838149"/>
                </a:cubicBezTo>
                <a:cubicBezTo>
                  <a:pt x="910679" y="3564211"/>
                  <a:pt x="784571" y="3292847"/>
                  <a:pt x="626404" y="3045292"/>
                </a:cubicBezTo>
                <a:cubicBezTo>
                  <a:pt x="516355" y="2873268"/>
                  <a:pt x="336073" y="2807363"/>
                  <a:pt x="147061" y="2765401"/>
                </a:cubicBezTo>
                <a:lnTo>
                  <a:pt x="0" y="273669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BF3E7E1-5979-392F-35E1-7A4FB60A96D6}"/>
              </a:ext>
            </a:extLst>
          </p:cNvPr>
          <p:cNvSpPr>
            <a:spLocks noGrp="1"/>
          </p:cNvSpPr>
          <p:nvPr>
            <p:ph type="title"/>
          </p:nvPr>
        </p:nvSpPr>
        <p:spPr>
          <a:xfrm>
            <a:off x="609600" y="663960"/>
            <a:ext cx="4298417" cy="2539390"/>
          </a:xfrm>
        </p:spPr>
        <p:txBody>
          <a:bodyPr vert="horz" lIns="91440" tIns="45720" rIns="91440" bIns="45720" rtlCol="0" anchor="b">
            <a:normAutofit fontScale="90000"/>
          </a:bodyPr>
          <a:lstStyle/>
          <a:p>
            <a:r>
              <a:rPr lang="en-US" dirty="0"/>
              <a:t>Implementation flow using </a:t>
            </a:r>
            <a:r>
              <a:rPr lang="en-US"/>
              <a:t>assisted installer of OKD on OCI</a:t>
            </a:r>
          </a:p>
        </p:txBody>
      </p:sp>
      <p:pic>
        <p:nvPicPr>
          <p:cNvPr id="4" name="Content Placeholder 3" descr="A workflow diagram with four boxes in a vertical stack. The first and fourth boxes represent installation steps performed in the Red Hat OpenShift Hybrid Cloud Console, while the second and third represent steps performed in the OCI Console. These steps are detailed in the OpenShift for OCI Assisted Installer section of this documentation.">
            <a:extLst>
              <a:ext uri="{FF2B5EF4-FFF2-40B4-BE49-F238E27FC236}">
                <a16:creationId xmlns:a16="http://schemas.microsoft.com/office/drawing/2014/main" id="{394F8A72-88C4-0117-6F3C-E01ED3104FF0}"/>
              </a:ext>
            </a:extLst>
          </p:cNvPr>
          <p:cNvPicPr>
            <a:picLocks noGrp="1" noChangeAspect="1"/>
          </p:cNvPicPr>
          <p:nvPr>
            <p:ph idx="1"/>
          </p:nvPr>
        </p:nvPicPr>
        <p:blipFill>
          <a:blip r:embed="rId2"/>
          <a:stretch>
            <a:fillRect/>
          </a:stretch>
        </p:blipFill>
        <p:spPr>
          <a:xfrm>
            <a:off x="7640447" y="663959"/>
            <a:ext cx="2861587" cy="5424809"/>
          </a:xfrm>
          <a:prstGeom prst="rect">
            <a:avLst/>
          </a:prstGeom>
        </p:spPr>
      </p:pic>
    </p:spTree>
    <p:extLst>
      <p:ext uri="{BB962C8B-B14F-4D97-AF65-F5344CB8AC3E}">
        <p14:creationId xmlns:p14="http://schemas.microsoft.com/office/powerpoint/2010/main" val="3733477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1893A-CD8A-151A-344A-77B8CF90054D}"/>
              </a:ext>
            </a:extLst>
          </p:cNvPr>
          <p:cNvSpPr>
            <a:spLocks noGrp="1"/>
          </p:cNvSpPr>
          <p:nvPr>
            <p:ph type="title"/>
          </p:nvPr>
        </p:nvSpPr>
        <p:spPr/>
        <p:txBody>
          <a:bodyPr>
            <a:normAutofit fontScale="90000"/>
          </a:bodyPr>
          <a:lstStyle/>
          <a:p>
            <a:r>
              <a:rPr lang="en-US">
                <a:cs typeface="Posterama"/>
              </a:rPr>
              <a:t>Implementation flow using Assisted Installer OKD on OCI (detailed)</a:t>
            </a:r>
            <a:endParaRPr lang="en-US"/>
          </a:p>
        </p:txBody>
      </p:sp>
      <p:pic>
        <p:nvPicPr>
          <p:cNvPr id="4" name="Content Placeholder 3" descr="A diagram of a diagram&#10;&#10;AI-generated content may be incorrect.">
            <a:extLst>
              <a:ext uri="{FF2B5EF4-FFF2-40B4-BE49-F238E27FC236}">
                <a16:creationId xmlns:a16="http://schemas.microsoft.com/office/drawing/2014/main" id="{85D29246-4373-1EA8-12A7-D3392CF01738}"/>
              </a:ext>
            </a:extLst>
          </p:cNvPr>
          <p:cNvPicPr>
            <a:picLocks noGrp="1" noChangeAspect="1"/>
          </p:cNvPicPr>
          <p:nvPr>
            <p:ph idx="1"/>
          </p:nvPr>
        </p:nvPicPr>
        <p:blipFill>
          <a:blip r:embed="rId2"/>
          <a:stretch>
            <a:fillRect/>
          </a:stretch>
        </p:blipFill>
        <p:spPr>
          <a:xfrm>
            <a:off x="138647" y="1888490"/>
            <a:ext cx="11904808" cy="4650092"/>
          </a:xfrm>
          <a:prstGeom prst="rect">
            <a:avLst/>
          </a:prstGeom>
        </p:spPr>
      </p:pic>
    </p:spTree>
    <p:extLst>
      <p:ext uri="{BB962C8B-B14F-4D97-AF65-F5344CB8AC3E}">
        <p14:creationId xmlns:p14="http://schemas.microsoft.com/office/powerpoint/2010/main" val="3746887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CF52A5B-5810-4130-A3DB-FD2582D053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B8FE145C-BED6-4533-8211-7AC773F7A2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916078" cy="6858000"/>
          </a:xfrm>
          <a:custGeom>
            <a:avLst/>
            <a:gdLst>
              <a:gd name="connsiteX0" fmla="*/ 8183400 w 8916078"/>
              <a:gd name="connsiteY0" fmla="*/ 3865853 h 6820849"/>
              <a:gd name="connsiteX1" fmla="*/ 8259593 w 8916078"/>
              <a:gd name="connsiteY1" fmla="*/ 3878252 h 6820849"/>
              <a:gd name="connsiteX2" fmla="*/ 8529076 w 8916078"/>
              <a:gd name="connsiteY2" fmla="*/ 4345010 h 6820849"/>
              <a:gd name="connsiteX3" fmla="*/ 8062319 w 8916078"/>
              <a:gd name="connsiteY3" fmla="*/ 4614493 h 6820849"/>
              <a:gd name="connsiteX4" fmla="*/ 7792836 w 8916078"/>
              <a:gd name="connsiteY4" fmla="*/ 4147735 h 6820849"/>
              <a:gd name="connsiteX5" fmla="*/ 8183400 w 8916078"/>
              <a:gd name="connsiteY5" fmla="*/ 3865853 h 6820849"/>
              <a:gd name="connsiteX6" fmla="*/ 8734942 w 8916078"/>
              <a:gd name="connsiteY6" fmla="*/ 2667480 h 6820849"/>
              <a:gd name="connsiteX7" fmla="*/ 8773412 w 8916078"/>
              <a:gd name="connsiteY7" fmla="*/ 2673741 h 6820849"/>
              <a:gd name="connsiteX8" fmla="*/ 8909474 w 8916078"/>
              <a:gd name="connsiteY8" fmla="*/ 2909407 h 6820849"/>
              <a:gd name="connsiteX9" fmla="*/ 8673808 w 8916078"/>
              <a:gd name="connsiteY9" fmla="*/ 3045469 h 6820849"/>
              <a:gd name="connsiteX10" fmla="*/ 8537746 w 8916078"/>
              <a:gd name="connsiteY10" fmla="*/ 2809802 h 6820849"/>
              <a:gd name="connsiteX11" fmla="*/ 8697151 w 8916078"/>
              <a:gd name="connsiteY11" fmla="*/ 2668961 h 6820849"/>
              <a:gd name="connsiteX12" fmla="*/ 8734942 w 8916078"/>
              <a:gd name="connsiteY12" fmla="*/ 2667480 h 6820849"/>
              <a:gd name="connsiteX13" fmla="*/ 8776652 w 8916078"/>
              <a:gd name="connsiteY13" fmla="*/ 1 h 6820849"/>
              <a:gd name="connsiteX14" fmla="*/ 8786961 w 8916078"/>
              <a:gd name="connsiteY14" fmla="*/ 42970 h 6820849"/>
              <a:gd name="connsiteX15" fmla="*/ 8775876 w 8916078"/>
              <a:gd name="connsiteY15" fmla="*/ 219853 h 6820849"/>
              <a:gd name="connsiteX16" fmla="*/ 8229255 w 8916078"/>
              <a:gd name="connsiteY16" fmla="*/ 535444 h 6820849"/>
              <a:gd name="connsiteX17" fmla="*/ 7899142 w 8916078"/>
              <a:gd name="connsiteY17" fmla="*/ 78053 h 6820849"/>
              <a:gd name="connsiteX18" fmla="*/ 7911844 w 8916078"/>
              <a:gd name="connsiteY18" fmla="*/ 1 h 6820849"/>
              <a:gd name="connsiteX19" fmla="*/ 0 w 8916078"/>
              <a:gd name="connsiteY19" fmla="*/ 0 h 6820849"/>
              <a:gd name="connsiteX20" fmla="*/ 3064542 w 8916078"/>
              <a:gd name="connsiteY20" fmla="*/ 1 h 6820849"/>
              <a:gd name="connsiteX21" fmla="*/ 3626351 w 8916078"/>
              <a:gd name="connsiteY21" fmla="*/ 1 h 6820849"/>
              <a:gd name="connsiteX22" fmla="*/ 6388767 w 8916078"/>
              <a:gd name="connsiteY22" fmla="*/ 1 h 6820849"/>
              <a:gd name="connsiteX23" fmla="*/ 7293415 w 8916078"/>
              <a:gd name="connsiteY23" fmla="*/ 1 h 6820849"/>
              <a:gd name="connsiteX24" fmla="*/ 7285291 w 8916078"/>
              <a:gd name="connsiteY24" fmla="*/ 184997 h 6820849"/>
              <a:gd name="connsiteX25" fmla="*/ 7288318 w 8916078"/>
              <a:gd name="connsiteY25" fmla="*/ 419996 h 6820849"/>
              <a:gd name="connsiteX26" fmla="*/ 7736280 w 8916078"/>
              <a:gd name="connsiteY26" fmla="*/ 1068100 h 6820849"/>
              <a:gd name="connsiteX27" fmla="*/ 8184147 w 8916078"/>
              <a:gd name="connsiteY27" fmla="*/ 2589406 h 6820849"/>
              <a:gd name="connsiteX28" fmla="*/ 7738154 w 8916078"/>
              <a:gd name="connsiteY28" fmla="*/ 3164270 h 6820849"/>
              <a:gd name="connsiteX29" fmla="*/ 7579762 w 8916078"/>
              <a:gd name="connsiteY29" fmla="*/ 4641256 h 6820849"/>
              <a:gd name="connsiteX30" fmla="*/ 8191492 w 8916078"/>
              <a:gd name="connsiteY30" fmla="*/ 5670858 h 6820849"/>
              <a:gd name="connsiteX31" fmla="*/ 8477065 w 8916078"/>
              <a:gd name="connsiteY31" fmla="*/ 6707671 h 6820849"/>
              <a:gd name="connsiteX32" fmla="*/ 8478852 w 8916078"/>
              <a:gd name="connsiteY32" fmla="*/ 6820849 h 6820849"/>
              <a:gd name="connsiteX33" fmla="*/ 0 w 8916078"/>
              <a:gd name="connsiteY33" fmla="*/ 6820849 h 6820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916078" h="6820849">
                <a:moveTo>
                  <a:pt x="8183400" y="3865853"/>
                </a:moveTo>
                <a:cubicBezTo>
                  <a:pt x="8208679" y="3867370"/>
                  <a:pt x="8234181" y="3871443"/>
                  <a:pt x="8259593" y="3878252"/>
                </a:cubicBezTo>
                <a:cubicBezTo>
                  <a:pt x="8462901" y="3932728"/>
                  <a:pt x="8583552" y="4141703"/>
                  <a:pt x="8529076" y="4345010"/>
                </a:cubicBezTo>
                <a:cubicBezTo>
                  <a:pt x="8474600" y="4548317"/>
                  <a:pt x="8265626" y="4668969"/>
                  <a:pt x="8062319" y="4614493"/>
                </a:cubicBezTo>
                <a:cubicBezTo>
                  <a:pt x="7859012" y="4560017"/>
                  <a:pt x="7738360" y="4351042"/>
                  <a:pt x="7792836" y="4147735"/>
                </a:cubicBezTo>
                <a:cubicBezTo>
                  <a:pt x="7840502" y="3969841"/>
                  <a:pt x="8006457" y="3855230"/>
                  <a:pt x="8183400" y="3865853"/>
                </a:cubicBezTo>
                <a:close/>
                <a:moveTo>
                  <a:pt x="8734942" y="2667480"/>
                </a:moveTo>
                <a:cubicBezTo>
                  <a:pt x="8747705" y="2668246"/>
                  <a:pt x="8760581" y="2670303"/>
                  <a:pt x="8773412" y="2673741"/>
                </a:cubicBezTo>
                <a:cubicBezTo>
                  <a:pt x="8876062" y="2701246"/>
                  <a:pt x="8936980" y="2806757"/>
                  <a:pt x="8909474" y="2909407"/>
                </a:cubicBezTo>
                <a:cubicBezTo>
                  <a:pt x="8881969" y="3012057"/>
                  <a:pt x="8776458" y="3072974"/>
                  <a:pt x="8673808" y="3045469"/>
                </a:cubicBezTo>
                <a:cubicBezTo>
                  <a:pt x="8571158" y="3017965"/>
                  <a:pt x="8510241" y="2912452"/>
                  <a:pt x="8537746" y="2809802"/>
                </a:cubicBezTo>
                <a:cubicBezTo>
                  <a:pt x="8558375" y="2732815"/>
                  <a:pt x="8622882" y="2679302"/>
                  <a:pt x="8697151" y="2668961"/>
                </a:cubicBezTo>
                <a:cubicBezTo>
                  <a:pt x="8709529" y="2667237"/>
                  <a:pt x="8722180" y="2666714"/>
                  <a:pt x="8734942" y="2667480"/>
                </a:cubicBezTo>
                <a:close/>
                <a:moveTo>
                  <a:pt x="8776652" y="1"/>
                </a:moveTo>
                <a:lnTo>
                  <a:pt x="8786961" y="42970"/>
                </a:lnTo>
                <a:cubicBezTo>
                  <a:pt x="8794957" y="100392"/>
                  <a:pt x="8791826" y="160330"/>
                  <a:pt x="8775876" y="219853"/>
                </a:cubicBezTo>
                <a:cubicBezTo>
                  <a:pt x="8712079" y="457946"/>
                  <a:pt x="8467349" y="599241"/>
                  <a:pt x="8229255" y="535444"/>
                </a:cubicBezTo>
                <a:cubicBezTo>
                  <a:pt x="8020924" y="479621"/>
                  <a:pt x="7886703" y="285271"/>
                  <a:pt x="7899142" y="78053"/>
                </a:cubicBezTo>
                <a:lnTo>
                  <a:pt x="7911844" y="1"/>
                </a:lnTo>
                <a:close/>
                <a:moveTo>
                  <a:pt x="0" y="0"/>
                </a:moveTo>
                <a:lnTo>
                  <a:pt x="3064542" y="1"/>
                </a:lnTo>
                <a:lnTo>
                  <a:pt x="3626351" y="1"/>
                </a:lnTo>
                <a:lnTo>
                  <a:pt x="6388767" y="1"/>
                </a:lnTo>
                <a:lnTo>
                  <a:pt x="7293415" y="1"/>
                </a:lnTo>
                <a:lnTo>
                  <a:pt x="7285291" y="184997"/>
                </a:lnTo>
                <a:cubicBezTo>
                  <a:pt x="7283933" y="263521"/>
                  <a:pt x="7284806" y="341911"/>
                  <a:pt x="7288318" y="419996"/>
                </a:cubicBezTo>
                <a:cubicBezTo>
                  <a:pt x="7301507" y="709488"/>
                  <a:pt x="7530168" y="891535"/>
                  <a:pt x="7736280" y="1068100"/>
                </a:cubicBezTo>
                <a:cubicBezTo>
                  <a:pt x="8250069" y="1508062"/>
                  <a:pt x="8424916" y="2032159"/>
                  <a:pt x="8184147" y="2589406"/>
                </a:cubicBezTo>
                <a:cubicBezTo>
                  <a:pt x="8090773" y="2805524"/>
                  <a:pt x="7909218" y="2993264"/>
                  <a:pt x="7738154" y="3164270"/>
                </a:cubicBezTo>
                <a:cubicBezTo>
                  <a:pt x="7279360" y="3622745"/>
                  <a:pt x="7298159" y="4154456"/>
                  <a:pt x="7579762" y="4641256"/>
                </a:cubicBezTo>
                <a:cubicBezTo>
                  <a:pt x="7780382" y="4986833"/>
                  <a:pt x="8020938" y="5311557"/>
                  <a:pt x="8191492" y="5670858"/>
                </a:cubicBezTo>
                <a:cubicBezTo>
                  <a:pt x="8357544" y="6019043"/>
                  <a:pt x="8456063" y="6366409"/>
                  <a:pt x="8477065" y="6707671"/>
                </a:cubicBezTo>
                <a:lnTo>
                  <a:pt x="8478852" y="6820849"/>
                </a:lnTo>
                <a:lnTo>
                  <a:pt x="0" y="682084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7F1B037D-8E2E-C7B6-F5EF-78A70BBDB7A0}"/>
              </a:ext>
            </a:extLst>
          </p:cNvPr>
          <p:cNvSpPr>
            <a:spLocks noGrp="1"/>
          </p:cNvSpPr>
          <p:nvPr>
            <p:ph type="title"/>
          </p:nvPr>
        </p:nvSpPr>
        <p:spPr>
          <a:xfrm>
            <a:off x="609600" y="557784"/>
            <a:ext cx="6029325" cy="1325563"/>
          </a:xfrm>
        </p:spPr>
        <p:txBody>
          <a:bodyPr>
            <a:normAutofit/>
          </a:bodyPr>
          <a:lstStyle/>
          <a:p>
            <a:pPr>
              <a:lnSpc>
                <a:spcPct val="90000"/>
              </a:lnSpc>
            </a:pPr>
            <a:r>
              <a:rPr lang="en-US" b="1">
                <a:latin typeface="Avenir Next LT Pro"/>
              </a:rPr>
              <a:t>Machine’s Path to the Console</a:t>
            </a:r>
            <a:endParaRPr lang="en-US"/>
          </a:p>
        </p:txBody>
      </p:sp>
      <p:sp>
        <p:nvSpPr>
          <p:cNvPr id="3" name="Content Placeholder 2">
            <a:extLst>
              <a:ext uri="{FF2B5EF4-FFF2-40B4-BE49-F238E27FC236}">
                <a16:creationId xmlns:a16="http://schemas.microsoft.com/office/drawing/2014/main" id="{3D172BAC-1EF2-3719-000A-AB438089FC2F}"/>
              </a:ext>
            </a:extLst>
          </p:cNvPr>
          <p:cNvSpPr>
            <a:spLocks noGrp="1"/>
          </p:cNvSpPr>
          <p:nvPr>
            <p:ph idx="1"/>
          </p:nvPr>
        </p:nvSpPr>
        <p:spPr>
          <a:xfrm>
            <a:off x="609600" y="2106204"/>
            <a:ext cx="6029325" cy="4036534"/>
          </a:xfrm>
        </p:spPr>
        <p:txBody>
          <a:bodyPr vert="horz" lIns="91440" tIns="45720" rIns="91440" bIns="45720" rtlCol="0" anchor="t">
            <a:noAutofit/>
          </a:bodyPr>
          <a:lstStyle/>
          <a:p>
            <a:pPr>
              <a:lnSpc>
                <a:spcPct val="100000"/>
              </a:lnSpc>
            </a:pPr>
            <a:endParaRPr lang="en-US" sz="1400" b="1" dirty="0"/>
          </a:p>
          <a:p>
            <a:pPr>
              <a:lnSpc>
                <a:spcPct val="100000"/>
              </a:lnSpc>
            </a:pPr>
            <a:r>
              <a:rPr lang="en-US" sz="1400">
                <a:latin typeface="Consolas"/>
              </a:rPr>
              <a:t>oc login </a:t>
            </a:r>
            <a:r>
              <a:rPr lang="en-US" sz="1400" dirty="0">
                <a:latin typeface="Consolas"/>
                <a:hlinkClick r:id="rId2"/>
              </a:rPr>
              <a:t>https://api.oud-okd-oci.example.internal:6443</a:t>
            </a:r>
            <a:endParaRPr lang="en-US" sz="1400"/>
          </a:p>
          <a:p>
            <a:pPr marL="285750" indent="-285750">
              <a:lnSpc>
                <a:spcPct val="100000"/>
              </a:lnSpc>
              <a:buFont typeface="Arial"/>
              <a:buChar char="•"/>
            </a:pPr>
            <a:r>
              <a:rPr lang="en-US" sz="1400">
                <a:ea typeface="+mn-lt"/>
                <a:cs typeface="+mn-lt"/>
              </a:rPr>
              <a:t>DNS resolves to LB public IP (</a:t>
            </a:r>
            <a:r>
              <a:rPr lang="en-US" sz="1400">
                <a:latin typeface="Consolas"/>
              </a:rPr>
              <a:t>/etc/hosts</a:t>
            </a:r>
            <a:r>
              <a:rPr lang="en-US" sz="1400">
                <a:ea typeface="+mn-lt"/>
                <a:cs typeface="+mn-lt"/>
              </a:rPr>
              <a:t>)</a:t>
            </a:r>
            <a:endParaRPr lang="en-US" sz="1400"/>
          </a:p>
          <a:p>
            <a:pPr marL="285750" indent="-285750">
              <a:lnSpc>
                <a:spcPct val="100000"/>
              </a:lnSpc>
              <a:buFont typeface="Arial"/>
              <a:buChar char="•"/>
            </a:pPr>
            <a:r>
              <a:rPr lang="en-US" sz="1400">
                <a:ea typeface="+mn-lt"/>
                <a:cs typeface="+mn-lt"/>
              </a:rPr>
              <a:t>Traffic hits </a:t>
            </a:r>
            <a:r>
              <a:rPr lang="en-US" sz="1400" b="1">
                <a:ea typeface="+mn-lt"/>
                <a:cs typeface="+mn-lt"/>
              </a:rPr>
              <a:t>Public LB Listener</a:t>
            </a:r>
            <a:r>
              <a:rPr lang="en-US" sz="1400">
                <a:ea typeface="+mn-lt"/>
                <a:cs typeface="+mn-lt"/>
              </a:rPr>
              <a:t> on port </a:t>
            </a:r>
            <a:r>
              <a:rPr lang="en-US" sz="1400" b="1">
                <a:ea typeface="+mn-lt"/>
                <a:cs typeface="+mn-lt"/>
              </a:rPr>
              <a:t>6443</a:t>
            </a:r>
            <a:endParaRPr lang="en-US" sz="1400"/>
          </a:p>
          <a:p>
            <a:pPr marL="285750" indent="-285750">
              <a:lnSpc>
                <a:spcPct val="100000"/>
              </a:lnSpc>
              <a:buFont typeface="Arial"/>
              <a:buChar char="•"/>
            </a:pPr>
            <a:r>
              <a:rPr lang="en-US" sz="1400">
                <a:ea typeface="+mn-lt"/>
                <a:cs typeface="+mn-lt"/>
              </a:rPr>
              <a:t>LB routes to healthy control plane node via backend set</a:t>
            </a:r>
            <a:endParaRPr lang="en-US" sz="1400"/>
          </a:p>
          <a:p>
            <a:pPr marL="285750" indent="-285750">
              <a:lnSpc>
                <a:spcPct val="100000"/>
              </a:lnSpc>
              <a:buFont typeface="Arial"/>
              <a:buChar char="•"/>
            </a:pPr>
            <a:r>
              <a:rPr lang="en-US" sz="1400">
                <a:latin typeface="Consolas"/>
              </a:rPr>
              <a:t>kube-apiserver</a:t>
            </a:r>
            <a:r>
              <a:rPr lang="en-US" sz="1400">
                <a:ea typeface="+mn-lt"/>
                <a:cs typeface="+mn-lt"/>
              </a:rPr>
              <a:t> receives and processes login</a:t>
            </a:r>
            <a:endParaRPr lang="en-US" sz="1400"/>
          </a:p>
          <a:p>
            <a:pPr>
              <a:lnSpc>
                <a:spcPct val="100000"/>
              </a:lnSpc>
            </a:pPr>
            <a:r>
              <a:rPr lang="en-US" sz="1400"/>
              <a:t>Access Web Console (</a:t>
            </a:r>
            <a:r>
              <a:rPr lang="en-US" sz="1400" dirty="0">
                <a:latin typeface="Consolas"/>
                <a:hlinkClick r:id="rId3"/>
              </a:rPr>
              <a:t>https://console-openshift-console.apps</a:t>
            </a:r>
            <a:r>
              <a:rPr lang="en-US" sz="1400">
                <a:latin typeface="Consolas"/>
              </a:rPr>
              <a:t>....</a:t>
            </a:r>
            <a:r>
              <a:rPr lang="en-US" sz="1400"/>
              <a:t>)</a:t>
            </a:r>
          </a:p>
          <a:p>
            <a:pPr marL="285750" indent="-285750">
              <a:lnSpc>
                <a:spcPct val="100000"/>
              </a:lnSpc>
              <a:buFont typeface="Arial"/>
              <a:buChar char="•"/>
            </a:pPr>
            <a:r>
              <a:rPr lang="en-US" sz="1400">
                <a:ea typeface="+mn-lt"/>
                <a:cs typeface="+mn-lt"/>
              </a:rPr>
              <a:t>DNS resolves to LB public IP (</a:t>
            </a:r>
            <a:r>
              <a:rPr lang="en-US" sz="1400">
                <a:latin typeface="Consolas"/>
              </a:rPr>
              <a:t>/etc/hosts</a:t>
            </a:r>
            <a:r>
              <a:rPr lang="en-US" sz="1400">
                <a:ea typeface="+mn-lt"/>
                <a:cs typeface="+mn-lt"/>
              </a:rPr>
              <a:t>)</a:t>
            </a:r>
            <a:endParaRPr lang="en-US" sz="1400"/>
          </a:p>
          <a:p>
            <a:pPr marL="285750" indent="-285750">
              <a:lnSpc>
                <a:spcPct val="100000"/>
              </a:lnSpc>
              <a:buFont typeface="Arial"/>
              <a:buChar char="•"/>
            </a:pPr>
            <a:r>
              <a:rPr lang="en-US" sz="1400">
                <a:ea typeface="+mn-lt"/>
                <a:cs typeface="+mn-lt"/>
              </a:rPr>
              <a:t>Traffic hits </a:t>
            </a:r>
            <a:r>
              <a:rPr lang="en-US" sz="1400" b="1">
                <a:ea typeface="+mn-lt"/>
                <a:cs typeface="+mn-lt"/>
              </a:rPr>
              <a:t>Public LB Listener</a:t>
            </a:r>
            <a:r>
              <a:rPr lang="en-US" sz="1400">
                <a:ea typeface="+mn-lt"/>
                <a:cs typeface="+mn-lt"/>
              </a:rPr>
              <a:t> on port </a:t>
            </a:r>
            <a:r>
              <a:rPr lang="en-US" sz="1400" b="1">
                <a:ea typeface="+mn-lt"/>
                <a:cs typeface="+mn-lt"/>
              </a:rPr>
              <a:t>443</a:t>
            </a:r>
            <a:endParaRPr lang="en-US" sz="1400"/>
          </a:p>
          <a:p>
            <a:pPr marL="285750" indent="-285750">
              <a:lnSpc>
                <a:spcPct val="100000"/>
              </a:lnSpc>
              <a:buFont typeface="Arial"/>
              <a:buChar char="•"/>
            </a:pPr>
            <a:r>
              <a:rPr lang="en-US" sz="1400">
                <a:ea typeface="+mn-lt"/>
                <a:cs typeface="+mn-lt"/>
              </a:rPr>
              <a:t>LB routes to a </a:t>
            </a:r>
            <a:r>
              <a:rPr lang="en-US" sz="1400" b="1">
                <a:ea typeface="+mn-lt"/>
                <a:cs typeface="+mn-lt"/>
              </a:rPr>
              <a:t>worker node running the ingress pod</a:t>
            </a:r>
            <a:endParaRPr lang="en-US" sz="1400"/>
          </a:p>
          <a:p>
            <a:pPr marL="285750" indent="-285750">
              <a:lnSpc>
                <a:spcPct val="100000"/>
              </a:lnSpc>
              <a:buFont typeface="Arial"/>
              <a:buChar char="•"/>
            </a:pPr>
            <a:r>
              <a:rPr lang="en-US" sz="1400">
                <a:ea typeface="+mn-lt"/>
                <a:cs typeface="+mn-lt"/>
              </a:rPr>
              <a:t>Pod forwards to the </a:t>
            </a:r>
            <a:r>
              <a:rPr lang="en-US" sz="1400">
                <a:latin typeface="Consolas"/>
              </a:rPr>
              <a:t>openshift-console</a:t>
            </a:r>
            <a:r>
              <a:rPr lang="en-US" sz="1400">
                <a:ea typeface="+mn-lt"/>
                <a:cs typeface="+mn-lt"/>
              </a:rPr>
              <a:t> route</a:t>
            </a:r>
            <a:endParaRPr lang="en-US" sz="1400"/>
          </a:p>
          <a:p>
            <a:pPr marL="285750" indent="-285750">
              <a:lnSpc>
                <a:spcPct val="100000"/>
              </a:lnSpc>
              <a:buFont typeface="Arial"/>
              <a:buChar char="•"/>
            </a:pPr>
            <a:r>
              <a:rPr lang="en-US" sz="1400">
                <a:ea typeface="+mn-lt"/>
                <a:cs typeface="+mn-lt"/>
              </a:rPr>
              <a:t>Console UI is served back to your browse</a:t>
            </a:r>
            <a:endParaRPr lang="en-US" sz="1400"/>
          </a:p>
          <a:p>
            <a:pPr>
              <a:lnSpc>
                <a:spcPct val="100000"/>
              </a:lnSpc>
            </a:pPr>
            <a:endParaRPr lang="en-US" sz="1300"/>
          </a:p>
        </p:txBody>
      </p:sp>
    </p:spTree>
    <p:extLst>
      <p:ext uri="{BB962C8B-B14F-4D97-AF65-F5344CB8AC3E}">
        <p14:creationId xmlns:p14="http://schemas.microsoft.com/office/powerpoint/2010/main" val="4074733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Background Fill">
            <a:extLst>
              <a:ext uri="{FF2B5EF4-FFF2-40B4-BE49-F238E27FC236}">
                <a16:creationId xmlns:a16="http://schemas.microsoft.com/office/drawing/2014/main" id="{B937640E-EF7A-4A6C-A950-D12B7D5C9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CF52A5B-5810-4130-A3DB-FD2582D053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B8FE145C-BED6-4533-8211-7AC773F7A2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916078" cy="6858000"/>
          </a:xfrm>
          <a:custGeom>
            <a:avLst/>
            <a:gdLst>
              <a:gd name="connsiteX0" fmla="*/ 8183400 w 8916078"/>
              <a:gd name="connsiteY0" fmla="*/ 3865853 h 6820849"/>
              <a:gd name="connsiteX1" fmla="*/ 8259593 w 8916078"/>
              <a:gd name="connsiteY1" fmla="*/ 3878252 h 6820849"/>
              <a:gd name="connsiteX2" fmla="*/ 8529076 w 8916078"/>
              <a:gd name="connsiteY2" fmla="*/ 4345010 h 6820849"/>
              <a:gd name="connsiteX3" fmla="*/ 8062319 w 8916078"/>
              <a:gd name="connsiteY3" fmla="*/ 4614493 h 6820849"/>
              <a:gd name="connsiteX4" fmla="*/ 7792836 w 8916078"/>
              <a:gd name="connsiteY4" fmla="*/ 4147735 h 6820849"/>
              <a:gd name="connsiteX5" fmla="*/ 8183400 w 8916078"/>
              <a:gd name="connsiteY5" fmla="*/ 3865853 h 6820849"/>
              <a:gd name="connsiteX6" fmla="*/ 8734942 w 8916078"/>
              <a:gd name="connsiteY6" fmla="*/ 2667480 h 6820849"/>
              <a:gd name="connsiteX7" fmla="*/ 8773412 w 8916078"/>
              <a:gd name="connsiteY7" fmla="*/ 2673741 h 6820849"/>
              <a:gd name="connsiteX8" fmla="*/ 8909474 w 8916078"/>
              <a:gd name="connsiteY8" fmla="*/ 2909407 h 6820849"/>
              <a:gd name="connsiteX9" fmla="*/ 8673808 w 8916078"/>
              <a:gd name="connsiteY9" fmla="*/ 3045469 h 6820849"/>
              <a:gd name="connsiteX10" fmla="*/ 8537746 w 8916078"/>
              <a:gd name="connsiteY10" fmla="*/ 2809802 h 6820849"/>
              <a:gd name="connsiteX11" fmla="*/ 8697151 w 8916078"/>
              <a:gd name="connsiteY11" fmla="*/ 2668961 h 6820849"/>
              <a:gd name="connsiteX12" fmla="*/ 8734942 w 8916078"/>
              <a:gd name="connsiteY12" fmla="*/ 2667480 h 6820849"/>
              <a:gd name="connsiteX13" fmla="*/ 8776652 w 8916078"/>
              <a:gd name="connsiteY13" fmla="*/ 1 h 6820849"/>
              <a:gd name="connsiteX14" fmla="*/ 8786961 w 8916078"/>
              <a:gd name="connsiteY14" fmla="*/ 42970 h 6820849"/>
              <a:gd name="connsiteX15" fmla="*/ 8775876 w 8916078"/>
              <a:gd name="connsiteY15" fmla="*/ 219853 h 6820849"/>
              <a:gd name="connsiteX16" fmla="*/ 8229255 w 8916078"/>
              <a:gd name="connsiteY16" fmla="*/ 535444 h 6820849"/>
              <a:gd name="connsiteX17" fmla="*/ 7899142 w 8916078"/>
              <a:gd name="connsiteY17" fmla="*/ 78053 h 6820849"/>
              <a:gd name="connsiteX18" fmla="*/ 7911844 w 8916078"/>
              <a:gd name="connsiteY18" fmla="*/ 1 h 6820849"/>
              <a:gd name="connsiteX19" fmla="*/ 0 w 8916078"/>
              <a:gd name="connsiteY19" fmla="*/ 0 h 6820849"/>
              <a:gd name="connsiteX20" fmla="*/ 3064542 w 8916078"/>
              <a:gd name="connsiteY20" fmla="*/ 1 h 6820849"/>
              <a:gd name="connsiteX21" fmla="*/ 3626351 w 8916078"/>
              <a:gd name="connsiteY21" fmla="*/ 1 h 6820849"/>
              <a:gd name="connsiteX22" fmla="*/ 6388767 w 8916078"/>
              <a:gd name="connsiteY22" fmla="*/ 1 h 6820849"/>
              <a:gd name="connsiteX23" fmla="*/ 7293415 w 8916078"/>
              <a:gd name="connsiteY23" fmla="*/ 1 h 6820849"/>
              <a:gd name="connsiteX24" fmla="*/ 7285291 w 8916078"/>
              <a:gd name="connsiteY24" fmla="*/ 184997 h 6820849"/>
              <a:gd name="connsiteX25" fmla="*/ 7288318 w 8916078"/>
              <a:gd name="connsiteY25" fmla="*/ 419996 h 6820849"/>
              <a:gd name="connsiteX26" fmla="*/ 7736280 w 8916078"/>
              <a:gd name="connsiteY26" fmla="*/ 1068100 h 6820849"/>
              <a:gd name="connsiteX27" fmla="*/ 8184147 w 8916078"/>
              <a:gd name="connsiteY27" fmla="*/ 2589406 h 6820849"/>
              <a:gd name="connsiteX28" fmla="*/ 7738154 w 8916078"/>
              <a:gd name="connsiteY28" fmla="*/ 3164270 h 6820849"/>
              <a:gd name="connsiteX29" fmla="*/ 7579762 w 8916078"/>
              <a:gd name="connsiteY29" fmla="*/ 4641256 h 6820849"/>
              <a:gd name="connsiteX30" fmla="*/ 8191492 w 8916078"/>
              <a:gd name="connsiteY30" fmla="*/ 5670858 h 6820849"/>
              <a:gd name="connsiteX31" fmla="*/ 8477065 w 8916078"/>
              <a:gd name="connsiteY31" fmla="*/ 6707671 h 6820849"/>
              <a:gd name="connsiteX32" fmla="*/ 8478852 w 8916078"/>
              <a:gd name="connsiteY32" fmla="*/ 6820849 h 6820849"/>
              <a:gd name="connsiteX33" fmla="*/ 0 w 8916078"/>
              <a:gd name="connsiteY33" fmla="*/ 6820849 h 6820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916078" h="6820849">
                <a:moveTo>
                  <a:pt x="8183400" y="3865853"/>
                </a:moveTo>
                <a:cubicBezTo>
                  <a:pt x="8208679" y="3867370"/>
                  <a:pt x="8234181" y="3871443"/>
                  <a:pt x="8259593" y="3878252"/>
                </a:cubicBezTo>
                <a:cubicBezTo>
                  <a:pt x="8462901" y="3932728"/>
                  <a:pt x="8583552" y="4141703"/>
                  <a:pt x="8529076" y="4345010"/>
                </a:cubicBezTo>
                <a:cubicBezTo>
                  <a:pt x="8474600" y="4548317"/>
                  <a:pt x="8265626" y="4668969"/>
                  <a:pt x="8062319" y="4614493"/>
                </a:cubicBezTo>
                <a:cubicBezTo>
                  <a:pt x="7859012" y="4560017"/>
                  <a:pt x="7738360" y="4351042"/>
                  <a:pt x="7792836" y="4147735"/>
                </a:cubicBezTo>
                <a:cubicBezTo>
                  <a:pt x="7840502" y="3969841"/>
                  <a:pt x="8006457" y="3855230"/>
                  <a:pt x="8183400" y="3865853"/>
                </a:cubicBezTo>
                <a:close/>
                <a:moveTo>
                  <a:pt x="8734942" y="2667480"/>
                </a:moveTo>
                <a:cubicBezTo>
                  <a:pt x="8747705" y="2668246"/>
                  <a:pt x="8760581" y="2670303"/>
                  <a:pt x="8773412" y="2673741"/>
                </a:cubicBezTo>
                <a:cubicBezTo>
                  <a:pt x="8876062" y="2701246"/>
                  <a:pt x="8936980" y="2806757"/>
                  <a:pt x="8909474" y="2909407"/>
                </a:cubicBezTo>
                <a:cubicBezTo>
                  <a:pt x="8881969" y="3012057"/>
                  <a:pt x="8776458" y="3072974"/>
                  <a:pt x="8673808" y="3045469"/>
                </a:cubicBezTo>
                <a:cubicBezTo>
                  <a:pt x="8571158" y="3017965"/>
                  <a:pt x="8510241" y="2912452"/>
                  <a:pt x="8537746" y="2809802"/>
                </a:cubicBezTo>
                <a:cubicBezTo>
                  <a:pt x="8558375" y="2732815"/>
                  <a:pt x="8622882" y="2679302"/>
                  <a:pt x="8697151" y="2668961"/>
                </a:cubicBezTo>
                <a:cubicBezTo>
                  <a:pt x="8709529" y="2667237"/>
                  <a:pt x="8722180" y="2666714"/>
                  <a:pt x="8734942" y="2667480"/>
                </a:cubicBezTo>
                <a:close/>
                <a:moveTo>
                  <a:pt x="8776652" y="1"/>
                </a:moveTo>
                <a:lnTo>
                  <a:pt x="8786961" y="42970"/>
                </a:lnTo>
                <a:cubicBezTo>
                  <a:pt x="8794957" y="100392"/>
                  <a:pt x="8791826" y="160330"/>
                  <a:pt x="8775876" y="219853"/>
                </a:cubicBezTo>
                <a:cubicBezTo>
                  <a:pt x="8712079" y="457946"/>
                  <a:pt x="8467349" y="599241"/>
                  <a:pt x="8229255" y="535444"/>
                </a:cubicBezTo>
                <a:cubicBezTo>
                  <a:pt x="8020924" y="479621"/>
                  <a:pt x="7886703" y="285271"/>
                  <a:pt x="7899142" y="78053"/>
                </a:cubicBezTo>
                <a:lnTo>
                  <a:pt x="7911844" y="1"/>
                </a:lnTo>
                <a:close/>
                <a:moveTo>
                  <a:pt x="0" y="0"/>
                </a:moveTo>
                <a:lnTo>
                  <a:pt x="3064542" y="1"/>
                </a:lnTo>
                <a:lnTo>
                  <a:pt x="3626351" y="1"/>
                </a:lnTo>
                <a:lnTo>
                  <a:pt x="6388767" y="1"/>
                </a:lnTo>
                <a:lnTo>
                  <a:pt x="7293415" y="1"/>
                </a:lnTo>
                <a:lnTo>
                  <a:pt x="7285291" y="184997"/>
                </a:lnTo>
                <a:cubicBezTo>
                  <a:pt x="7283933" y="263521"/>
                  <a:pt x="7284806" y="341911"/>
                  <a:pt x="7288318" y="419996"/>
                </a:cubicBezTo>
                <a:cubicBezTo>
                  <a:pt x="7301507" y="709488"/>
                  <a:pt x="7530168" y="891535"/>
                  <a:pt x="7736280" y="1068100"/>
                </a:cubicBezTo>
                <a:cubicBezTo>
                  <a:pt x="8250069" y="1508062"/>
                  <a:pt x="8424916" y="2032159"/>
                  <a:pt x="8184147" y="2589406"/>
                </a:cubicBezTo>
                <a:cubicBezTo>
                  <a:pt x="8090773" y="2805524"/>
                  <a:pt x="7909218" y="2993264"/>
                  <a:pt x="7738154" y="3164270"/>
                </a:cubicBezTo>
                <a:cubicBezTo>
                  <a:pt x="7279360" y="3622745"/>
                  <a:pt x="7298159" y="4154456"/>
                  <a:pt x="7579762" y="4641256"/>
                </a:cubicBezTo>
                <a:cubicBezTo>
                  <a:pt x="7780382" y="4986833"/>
                  <a:pt x="8020938" y="5311557"/>
                  <a:pt x="8191492" y="5670858"/>
                </a:cubicBezTo>
                <a:cubicBezTo>
                  <a:pt x="8357544" y="6019043"/>
                  <a:pt x="8456063" y="6366409"/>
                  <a:pt x="8477065" y="6707671"/>
                </a:cubicBezTo>
                <a:lnTo>
                  <a:pt x="8478852" y="6820849"/>
                </a:lnTo>
                <a:lnTo>
                  <a:pt x="0" y="682084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1F641AFB-DD34-62E3-D9D3-143676C8C4F6}"/>
              </a:ext>
            </a:extLst>
          </p:cNvPr>
          <p:cNvSpPr>
            <a:spLocks noGrp="1"/>
          </p:cNvSpPr>
          <p:nvPr>
            <p:ph type="title"/>
          </p:nvPr>
        </p:nvSpPr>
        <p:spPr>
          <a:xfrm>
            <a:off x="609600" y="557784"/>
            <a:ext cx="11579225" cy="792163"/>
          </a:xfrm>
        </p:spPr>
        <p:txBody>
          <a:bodyPr>
            <a:normAutofit/>
          </a:bodyPr>
          <a:lstStyle/>
          <a:p>
            <a:pPr>
              <a:lnSpc>
                <a:spcPct val="90000"/>
              </a:lnSpc>
            </a:pPr>
            <a:r>
              <a:rPr lang="en-US" sz="3700" b="1">
                <a:latin typeface="Avenir Next LT Pro"/>
              </a:rPr>
              <a:t>Terraform Stacks: Inputs, Processing, and Outputs</a:t>
            </a:r>
            <a:endParaRPr lang="en-US" sz="3700"/>
          </a:p>
        </p:txBody>
      </p:sp>
      <p:sp>
        <p:nvSpPr>
          <p:cNvPr id="3" name="Content Placeholder 2">
            <a:extLst>
              <a:ext uri="{FF2B5EF4-FFF2-40B4-BE49-F238E27FC236}">
                <a16:creationId xmlns:a16="http://schemas.microsoft.com/office/drawing/2014/main" id="{6DBA7375-F25D-1818-55F8-F257752E49C7}"/>
              </a:ext>
            </a:extLst>
          </p:cNvPr>
          <p:cNvSpPr>
            <a:spLocks noGrp="1"/>
          </p:cNvSpPr>
          <p:nvPr>
            <p:ph idx="1"/>
          </p:nvPr>
        </p:nvSpPr>
        <p:spPr>
          <a:xfrm>
            <a:off x="609600" y="1344204"/>
            <a:ext cx="7959725" cy="4798534"/>
          </a:xfrm>
        </p:spPr>
        <p:txBody>
          <a:bodyPr vert="horz" lIns="91440" tIns="45720" rIns="91440" bIns="45720" rtlCol="0" anchor="t">
            <a:noAutofit/>
          </a:bodyPr>
          <a:lstStyle/>
          <a:p>
            <a:pPr>
              <a:lnSpc>
                <a:spcPct val="100000"/>
              </a:lnSpc>
            </a:pPr>
            <a:r>
              <a:rPr lang="en-US" sz="1200" b="1"/>
              <a:t>Inputs:</a:t>
            </a:r>
            <a:endParaRPr lang="en-US" sz="1200" dirty="0"/>
          </a:p>
          <a:p>
            <a:pPr marL="285750" indent="-285750">
              <a:lnSpc>
                <a:spcPct val="100000"/>
              </a:lnSpc>
              <a:buFont typeface="Arial"/>
              <a:buChar char="•"/>
            </a:pPr>
            <a:r>
              <a:rPr lang="en-US" sz="1200">
                <a:ea typeface="+mn-lt"/>
                <a:cs typeface="+mn-lt"/>
              </a:rPr>
              <a:t>Terraform configuration files (</a:t>
            </a:r>
            <a:r>
              <a:rPr lang="en-US" sz="1200">
                <a:latin typeface="Consolas"/>
              </a:rPr>
              <a:t>.tf</a:t>
            </a:r>
            <a:r>
              <a:rPr lang="en-US" sz="1200">
                <a:ea typeface="+mn-lt"/>
                <a:cs typeface="+mn-lt"/>
              </a:rPr>
              <a:t>) define </a:t>
            </a:r>
            <a:r>
              <a:rPr lang="en-US" sz="1200" b="1">
                <a:ea typeface="+mn-lt"/>
                <a:cs typeface="+mn-lt"/>
              </a:rPr>
              <a:t>desired OCI resources</a:t>
            </a:r>
            <a:r>
              <a:rPr lang="en-US" sz="1200">
                <a:ea typeface="+mn-lt"/>
                <a:cs typeface="+mn-lt"/>
              </a:rPr>
              <a:t> (VCNs, compute instances, storage, etc.)</a:t>
            </a:r>
            <a:endParaRPr lang="en-US" sz="1200" dirty="0"/>
          </a:p>
          <a:p>
            <a:pPr marL="285750" indent="-285750">
              <a:lnSpc>
                <a:spcPct val="100000"/>
              </a:lnSpc>
              <a:buFont typeface="Arial"/>
              <a:buChar char="•"/>
            </a:pPr>
            <a:r>
              <a:rPr lang="en-US" sz="1200">
                <a:ea typeface="+mn-lt"/>
                <a:cs typeface="+mn-lt"/>
              </a:rPr>
              <a:t>Input variables specify environment-specific parameters (e.g., CIDR blocks, instance shapes, number of nodes)</a:t>
            </a:r>
            <a:endParaRPr lang="en-US" sz="1200" dirty="0"/>
          </a:p>
          <a:p>
            <a:pPr marL="285750" indent="-285750">
              <a:lnSpc>
                <a:spcPct val="100000"/>
              </a:lnSpc>
              <a:buFont typeface="Arial"/>
              <a:buChar char="•"/>
            </a:pPr>
            <a:r>
              <a:rPr lang="en-US" sz="1200">
                <a:ea typeface="+mn-lt"/>
                <a:cs typeface="+mn-lt"/>
              </a:rPr>
              <a:t>Variables can be set via CLI, environment, or Terraform Cloud/OCI Resource Manager UI</a:t>
            </a:r>
            <a:endParaRPr lang="en-US" sz="1200" dirty="0"/>
          </a:p>
          <a:p>
            <a:pPr>
              <a:lnSpc>
                <a:spcPct val="100000"/>
              </a:lnSpc>
            </a:pPr>
            <a:r>
              <a:rPr lang="en-US" sz="1200" b="1"/>
              <a:t>Processing:</a:t>
            </a:r>
            <a:endParaRPr lang="en-US" sz="1200" dirty="0"/>
          </a:p>
          <a:p>
            <a:pPr marL="285750" indent="-285750">
              <a:lnSpc>
                <a:spcPct val="100000"/>
              </a:lnSpc>
              <a:buFont typeface="Arial"/>
              <a:buChar char="•"/>
            </a:pPr>
            <a:r>
              <a:rPr lang="en-US" sz="1200">
                <a:ea typeface="+mn-lt"/>
                <a:cs typeface="+mn-lt"/>
              </a:rPr>
              <a:t>Terraform </a:t>
            </a:r>
            <a:r>
              <a:rPr lang="en-US" sz="1200" b="1">
                <a:ea typeface="+mn-lt"/>
                <a:cs typeface="+mn-lt"/>
              </a:rPr>
              <a:t>parses the configurations and variables</a:t>
            </a:r>
            <a:endParaRPr lang="en-US" sz="1200" dirty="0"/>
          </a:p>
          <a:p>
            <a:pPr marL="285750" indent="-285750">
              <a:lnSpc>
                <a:spcPct val="100000"/>
              </a:lnSpc>
              <a:buFont typeface="Arial"/>
              <a:buChar char="•"/>
            </a:pPr>
            <a:r>
              <a:rPr lang="en-US" sz="1200">
                <a:ea typeface="+mn-lt"/>
                <a:cs typeface="+mn-lt"/>
              </a:rPr>
              <a:t>Connects to OCI API to </a:t>
            </a:r>
            <a:r>
              <a:rPr lang="en-US" sz="1200" b="1">
                <a:ea typeface="+mn-lt"/>
                <a:cs typeface="+mn-lt"/>
              </a:rPr>
              <a:t>create, update, or delete resources</a:t>
            </a:r>
            <a:r>
              <a:rPr lang="en-US" sz="1200">
                <a:ea typeface="+mn-lt"/>
                <a:cs typeface="+mn-lt"/>
              </a:rPr>
              <a:t> in the correct order</a:t>
            </a:r>
            <a:endParaRPr lang="en-US" sz="1200" dirty="0"/>
          </a:p>
          <a:p>
            <a:pPr marL="285750" indent="-285750">
              <a:lnSpc>
                <a:spcPct val="100000"/>
              </a:lnSpc>
              <a:buFont typeface="Arial"/>
              <a:buChar char="•"/>
            </a:pPr>
            <a:r>
              <a:rPr lang="en-US" sz="1200">
                <a:ea typeface="+mn-lt"/>
                <a:cs typeface="+mn-lt"/>
              </a:rPr>
              <a:t>Uses a </a:t>
            </a:r>
            <a:r>
              <a:rPr lang="en-US" sz="1200" b="1">
                <a:ea typeface="+mn-lt"/>
                <a:cs typeface="+mn-lt"/>
              </a:rPr>
              <a:t>state file</a:t>
            </a:r>
            <a:r>
              <a:rPr lang="en-US" sz="1200">
                <a:ea typeface="+mn-lt"/>
                <a:cs typeface="+mn-lt"/>
              </a:rPr>
              <a:t> to track current resource status</a:t>
            </a:r>
            <a:endParaRPr lang="en-US" sz="1200" dirty="0"/>
          </a:p>
          <a:p>
            <a:pPr marL="285750" indent="-285750">
              <a:lnSpc>
                <a:spcPct val="100000"/>
              </a:lnSpc>
              <a:buFont typeface="Arial"/>
              <a:buChar char="•"/>
            </a:pPr>
            <a:r>
              <a:rPr lang="en-US" sz="1200">
                <a:ea typeface="+mn-lt"/>
                <a:cs typeface="+mn-lt"/>
              </a:rPr>
              <a:t>Applies </a:t>
            </a:r>
            <a:r>
              <a:rPr lang="en-US" sz="1200" b="1">
                <a:ea typeface="+mn-lt"/>
                <a:cs typeface="+mn-lt"/>
              </a:rPr>
              <a:t>dependency graph</a:t>
            </a:r>
            <a:r>
              <a:rPr lang="en-US" sz="1200">
                <a:ea typeface="+mn-lt"/>
                <a:cs typeface="+mn-lt"/>
              </a:rPr>
              <a:t> to handle resource interrelations safely</a:t>
            </a:r>
            <a:endParaRPr lang="en-US" sz="1200" dirty="0"/>
          </a:p>
          <a:p>
            <a:pPr>
              <a:lnSpc>
                <a:spcPct val="100000"/>
              </a:lnSpc>
            </a:pPr>
            <a:r>
              <a:rPr lang="en-US" sz="1200" b="1"/>
              <a:t>Outputs:</a:t>
            </a:r>
            <a:endParaRPr lang="en-US" sz="1200" dirty="0"/>
          </a:p>
          <a:p>
            <a:pPr marL="285750" indent="-285750">
              <a:lnSpc>
                <a:spcPct val="100000"/>
              </a:lnSpc>
              <a:buFont typeface="Arial"/>
              <a:buChar char="•"/>
            </a:pPr>
            <a:r>
              <a:rPr lang="en-US" sz="1200">
                <a:ea typeface="+mn-lt"/>
                <a:cs typeface="+mn-lt"/>
              </a:rPr>
              <a:t>After successful deployment, Terraform returns </a:t>
            </a:r>
            <a:r>
              <a:rPr lang="en-US" sz="1200" b="1">
                <a:ea typeface="+mn-lt"/>
                <a:cs typeface="+mn-lt"/>
              </a:rPr>
              <a:t>output variables</a:t>
            </a:r>
            <a:r>
              <a:rPr lang="en-US" sz="1200">
                <a:ea typeface="+mn-lt"/>
                <a:cs typeface="+mn-lt"/>
              </a:rPr>
              <a:t> such as:</a:t>
            </a:r>
            <a:endParaRPr lang="en-US" sz="1200" dirty="0"/>
          </a:p>
          <a:p>
            <a:pPr marL="514350" lvl="1" indent="-285750">
              <a:lnSpc>
                <a:spcPct val="100000"/>
              </a:lnSpc>
              <a:buFont typeface="Arial"/>
              <a:buChar char="•"/>
            </a:pPr>
            <a:r>
              <a:rPr lang="en-US" sz="1200">
                <a:ea typeface="+mn-lt"/>
                <a:cs typeface="+mn-lt"/>
              </a:rPr>
              <a:t>Public IPs</a:t>
            </a:r>
            <a:endParaRPr lang="en-US" sz="1200" dirty="0"/>
          </a:p>
          <a:p>
            <a:pPr marL="514350" lvl="1" indent="-285750">
              <a:lnSpc>
                <a:spcPct val="100000"/>
              </a:lnSpc>
              <a:buFont typeface="Arial"/>
              <a:buChar char="•"/>
            </a:pPr>
            <a:r>
              <a:rPr lang="en-US" sz="1200">
                <a:ea typeface="+mn-lt"/>
                <a:cs typeface="+mn-lt"/>
              </a:rPr>
              <a:t>Load balancer URLs</a:t>
            </a:r>
            <a:endParaRPr lang="en-US" sz="1200" dirty="0"/>
          </a:p>
          <a:p>
            <a:pPr marL="514350" lvl="1" indent="-285750">
              <a:lnSpc>
                <a:spcPct val="100000"/>
              </a:lnSpc>
              <a:buFont typeface="Arial"/>
              <a:buChar char="•"/>
            </a:pPr>
            <a:r>
              <a:rPr lang="en-US" sz="1200">
                <a:ea typeface="+mn-lt"/>
                <a:cs typeface="+mn-lt"/>
              </a:rPr>
              <a:t>Resource OCIDs (Oracle Cloud IDs)</a:t>
            </a:r>
            <a:endParaRPr lang="en-US" sz="1200" dirty="0"/>
          </a:p>
          <a:p>
            <a:pPr marL="514350" lvl="1" indent="-285750">
              <a:lnSpc>
                <a:spcPct val="100000"/>
              </a:lnSpc>
              <a:buFont typeface="Arial"/>
              <a:buChar char="•"/>
            </a:pPr>
            <a:r>
              <a:rPr lang="en-US" sz="1200">
                <a:ea typeface="+mn-lt"/>
                <a:cs typeface="+mn-lt"/>
              </a:rPr>
              <a:t>Cluster endpoint addresses (e.g., API server URL)</a:t>
            </a:r>
            <a:endParaRPr lang="en-US" sz="1200" dirty="0"/>
          </a:p>
          <a:p>
            <a:pPr marL="285750" indent="-285750">
              <a:lnSpc>
                <a:spcPct val="100000"/>
              </a:lnSpc>
              <a:buFont typeface="Arial"/>
              <a:buChar char="•"/>
            </a:pPr>
            <a:r>
              <a:rPr lang="en-US" sz="1200">
                <a:ea typeface="+mn-lt"/>
                <a:cs typeface="+mn-lt"/>
              </a:rPr>
              <a:t>These outputs are used for </a:t>
            </a:r>
            <a:r>
              <a:rPr lang="en-US" sz="1200" b="1">
                <a:ea typeface="+mn-lt"/>
                <a:cs typeface="+mn-lt"/>
              </a:rPr>
              <a:t>further automation steps or human reference</a:t>
            </a:r>
            <a:endParaRPr lang="en-US" sz="1200" dirty="0"/>
          </a:p>
          <a:p>
            <a:pPr>
              <a:lnSpc>
                <a:spcPct val="100000"/>
              </a:lnSpc>
            </a:pPr>
            <a:endParaRPr lang="en-US" sz="1200" dirty="0"/>
          </a:p>
        </p:txBody>
      </p:sp>
    </p:spTree>
    <p:extLst>
      <p:ext uri="{BB962C8B-B14F-4D97-AF65-F5344CB8AC3E}">
        <p14:creationId xmlns:p14="http://schemas.microsoft.com/office/powerpoint/2010/main" val="14151217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C9956-7E80-3D09-F10C-30549E9156B4}"/>
              </a:ext>
            </a:extLst>
          </p:cNvPr>
          <p:cNvSpPr>
            <a:spLocks noGrp="1"/>
          </p:cNvSpPr>
          <p:nvPr>
            <p:ph type="title"/>
          </p:nvPr>
        </p:nvSpPr>
        <p:spPr/>
        <p:txBody>
          <a:bodyPr>
            <a:normAutofit fontScale="90000"/>
          </a:bodyPr>
          <a:lstStyle/>
          <a:p>
            <a:r>
              <a:rPr lang="en-US" dirty="0">
                <a:cs typeface="Posterama"/>
              </a:rPr>
              <a:t>What's Next? Accessing the Web Console to </a:t>
            </a:r>
            <a:r>
              <a:rPr lang="en-US">
                <a:cs typeface="Posterama"/>
              </a:rPr>
              <a:t>deploy our Application(OUD/OUDSM)</a:t>
            </a:r>
            <a:endParaRPr lang="en-US" dirty="0">
              <a:cs typeface="Posterama"/>
            </a:endParaRPr>
          </a:p>
        </p:txBody>
      </p:sp>
      <p:pic>
        <p:nvPicPr>
          <p:cNvPr id="4" name="Content Placeholder 3" descr="A screenshot of a computer&#10;&#10;AI-generated content may be incorrect.">
            <a:extLst>
              <a:ext uri="{FF2B5EF4-FFF2-40B4-BE49-F238E27FC236}">
                <a16:creationId xmlns:a16="http://schemas.microsoft.com/office/drawing/2014/main" id="{0E5954BE-BF0F-3208-188C-4F3BBFD20ED6}"/>
              </a:ext>
            </a:extLst>
          </p:cNvPr>
          <p:cNvPicPr>
            <a:picLocks noGrp="1" noChangeAspect="1"/>
          </p:cNvPicPr>
          <p:nvPr>
            <p:ph idx="1"/>
          </p:nvPr>
        </p:nvPicPr>
        <p:blipFill>
          <a:blip r:embed="rId2"/>
          <a:stretch>
            <a:fillRect/>
          </a:stretch>
        </p:blipFill>
        <p:spPr>
          <a:xfrm>
            <a:off x="1098270" y="2106204"/>
            <a:ext cx="9779560" cy="4544534"/>
          </a:xfrm>
          <a:prstGeom prst="rect">
            <a:avLst/>
          </a:prstGeom>
        </p:spPr>
      </p:pic>
    </p:spTree>
    <p:extLst>
      <p:ext uri="{BB962C8B-B14F-4D97-AF65-F5344CB8AC3E}">
        <p14:creationId xmlns:p14="http://schemas.microsoft.com/office/powerpoint/2010/main" val="1247963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C942B-DC69-F136-E407-32EBDF786142}"/>
              </a:ext>
            </a:extLst>
          </p:cNvPr>
          <p:cNvSpPr>
            <a:spLocks noGrp="1"/>
          </p:cNvSpPr>
          <p:nvPr>
            <p:ph type="title"/>
          </p:nvPr>
        </p:nvSpPr>
        <p:spPr/>
        <p:txBody>
          <a:bodyPr/>
          <a:lstStyle/>
          <a:p>
            <a:r>
              <a:rPr lang="en-US">
                <a:cs typeface="Posterama"/>
              </a:rPr>
              <a:t>Q&amp;A</a:t>
            </a:r>
            <a:endParaRPr lang="en-US"/>
          </a:p>
        </p:txBody>
      </p:sp>
      <p:sp>
        <p:nvSpPr>
          <p:cNvPr id="3" name="Content Placeholder 2">
            <a:extLst>
              <a:ext uri="{FF2B5EF4-FFF2-40B4-BE49-F238E27FC236}">
                <a16:creationId xmlns:a16="http://schemas.microsoft.com/office/drawing/2014/main" id="{BC561CB2-244C-70F6-00C6-8C03FA0F134F}"/>
              </a:ext>
            </a:extLst>
          </p:cNvPr>
          <p:cNvSpPr>
            <a:spLocks noGrp="1"/>
          </p:cNvSpPr>
          <p:nvPr>
            <p:ph idx="1"/>
          </p:nvPr>
        </p:nvSpPr>
        <p:spPr/>
        <p:txBody>
          <a:bodyPr vert="horz" lIns="91440" tIns="45720" rIns="91440" bIns="45720" rtlCol="0" anchor="t">
            <a:normAutofit/>
          </a:bodyPr>
          <a:lstStyle/>
          <a:p>
            <a:r>
              <a:rPr lang="en-US"/>
              <a:t>Thank you.</a:t>
            </a:r>
          </a:p>
        </p:txBody>
      </p:sp>
    </p:spTree>
    <p:extLst>
      <p:ext uri="{BB962C8B-B14F-4D97-AF65-F5344CB8AC3E}">
        <p14:creationId xmlns:p14="http://schemas.microsoft.com/office/powerpoint/2010/main" val="1449849542"/>
      </p:ext>
    </p:extLst>
  </p:cSld>
  <p:clrMapOvr>
    <a:masterClrMapping/>
  </p:clrMapOvr>
</p:sld>
</file>

<file path=ppt/theme/theme1.xml><?xml version="1.0" encoding="utf-8"?>
<a:theme xmlns:a="http://schemas.openxmlformats.org/drawingml/2006/main" name="SplashVTI">
  <a:themeElements>
    <a:clrScheme name="Custom 11">
      <a:dk1>
        <a:srgbClr val="262626"/>
      </a:dk1>
      <a:lt1>
        <a:sysClr val="window" lastClr="FFFFFF"/>
      </a:lt1>
      <a:dk2>
        <a:srgbClr val="2F333D"/>
      </a:dk2>
      <a:lt2>
        <a:srgbClr val="E9F3F3"/>
      </a:lt2>
      <a:accent1>
        <a:srgbClr val="1EBE9B"/>
      </a:accent1>
      <a:accent2>
        <a:srgbClr val="FD8686"/>
      </a:accent2>
      <a:accent3>
        <a:srgbClr val="0AC8AD"/>
      </a:accent3>
      <a:accent4>
        <a:srgbClr val="E69500"/>
      </a:accent4>
      <a:accent5>
        <a:srgbClr val="EC4E70"/>
      </a:accent5>
      <a:accent6>
        <a:srgbClr val="794DFF"/>
      </a:accent6>
      <a:hlink>
        <a:srgbClr val="3E8FF1"/>
      </a:hlink>
      <a:folHlink>
        <a:srgbClr val="939393"/>
      </a:folHlink>
    </a:clrScheme>
    <a:fontScheme name="Custom 23">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plashVTI" id="{CD38C481-21EC-466B-953B-A1440B42712A}" vid="{D3E4813C-1D98-48C2-AF59-2D0D78E25500}"/>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SplashVTI</vt:lpstr>
      <vt:lpstr>Deploying  OUD on OKD/OpenShift on Oracle Cloud Infrastructure </vt:lpstr>
      <vt:lpstr>Table of Contents</vt:lpstr>
      <vt:lpstr>What is OUD ?</vt:lpstr>
      <vt:lpstr>What is OUDSM?</vt:lpstr>
      <vt:lpstr>What is OKD? </vt:lpstr>
      <vt:lpstr>What are we trying to achive? </vt:lpstr>
      <vt:lpstr>Key Features of OpenShift on OCI</vt:lpstr>
      <vt:lpstr>Oracle Resource Manager</vt:lpstr>
      <vt:lpstr>Cluster Architecture in OCI </vt:lpstr>
      <vt:lpstr>Cluster Architecture Design</vt:lpstr>
      <vt:lpstr>Benefits of Running OpenShift on OCI Key benefits</vt:lpstr>
      <vt:lpstr>Implementation flow using assisted installer of OKD on OCI</vt:lpstr>
      <vt:lpstr>Implementation flow using Assisted Installer OKD on OCI (detailed)</vt:lpstr>
      <vt:lpstr>Machine’s Path to the Console</vt:lpstr>
      <vt:lpstr>Terraform Stacks: Inputs, Processing, and Outputs</vt:lpstr>
      <vt:lpstr>What's Next? Accessing the Web Console to deploy our Application(OUD/OUDSM)</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197</cp:revision>
  <dcterms:created xsi:type="dcterms:W3CDTF">2025-07-01T07:46:38Z</dcterms:created>
  <dcterms:modified xsi:type="dcterms:W3CDTF">2026-07-28T20:13:04Z</dcterms:modified>
</cp:coreProperties>
</file>